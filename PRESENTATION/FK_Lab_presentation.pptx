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75" r:id="rId4"/>
    <p:sldId id="271" r:id="rId5"/>
    <p:sldId id="265" r:id="rId6"/>
    <p:sldId id="258" r:id="rId7"/>
    <p:sldId id="269" r:id="rId8"/>
    <p:sldId id="261" r:id="rId9"/>
    <p:sldId id="267" r:id="rId10"/>
    <p:sldId id="272" r:id="rId11"/>
    <p:sldId id="262" r:id="rId12"/>
    <p:sldId id="274" r:id="rId13"/>
    <p:sldId id="263" r:id="rId14"/>
    <p:sldId id="276" r:id="rId15"/>
    <p:sldId id="273" r:id="rId16"/>
    <p:sldId id="264" r:id="rId17"/>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35C5B"/>
    <a:srgbClr val="606060"/>
    <a:srgbClr val="045B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288" autoAdjust="0"/>
  </p:normalViewPr>
  <p:slideViewPr>
    <p:cSldViewPr snapToGrid="0">
      <p:cViewPr varScale="1">
        <p:scale>
          <a:sx n="101" d="100"/>
          <a:sy n="101" d="100"/>
        </p:scale>
        <p:origin x="26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3T14:29:47.356"/>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1 0,'1537'0,"-1518"0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3T14:30:18.001"/>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0 1,'679'0,"-657"0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3T14:30:22.538"/>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0 0,'4'0,"6"0,5 0,5 0,3 0,1 0,2 0,1 0,-5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3T14:30:33.725"/>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1 0,'0'0,"4"0,6 0,6 0,3 0,4 0,2 0,1 0,0 0,1 0,-1 0,0 0,-1 0,0 0,1 0,-1 0,0 0,-4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CD7E14-8068-4433-A8FC-6EE66CF1801D}" type="datetimeFigureOut">
              <a:rPr lang="en-DE" smtClean="0"/>
              <a:t>25/06/2026</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3452B6-285D-42CF-9A6F-7A7412069374}" type="slidenum">
              <a:rPr lang="en-DE" smtClean="0"/>
              <a:t>‹#›</a:t>
            </a:fld>
            <a:endParaRPr lang="en-DE"/>
          </a:p>
        </p:txBody>
      </p:sp>
    </p:spTree>
    <p:extLst>
      <p:ext uri="{BB962C8B-B14F-4D97-AF65-F5344CB8AC3E}">
        <p14:creationId xmlns:p14="http://schemas.microsoft.com/office/powerpoint/2010/main" val="788454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 is an experimental paper about the following setup.</a:t>
            </a:r>
            <a:br>
              <a:rPr lang="en-GB" dirty="0"/>
            </a:br>
            <a:r>
              <a:rPr lang="en-GB" dirty="0"/>
              <a:t>Closed channel. Low concentration of magnetic colloids. Gradient field + rotating.</a:t>
            </a:r>
            <a:br>
              <a:rPr lang="en-GB" dirty="0"/>
            </a:br>
            <a:r>
              <a:rPr lang="en-GB" dirty="0"/>
              <a:t>Observe: Primary aggregates form into secondary rod </a:t>
            </a:r>
            <a:r>
              <a:rPr lang="en-GB" dirty="0" err="1"/>
              <a:t>structurs</a:t>
            </a:r>
            <a:r>
              <a:rPr lang="en-GB" dirty="0"/>
              <a:t> that spin, go to the back wall, and translate to the left there. Drag fluid with them -&gt; Bottom flow to the right. Recirculation flow. 5-8microm/s</a:t>
            </a:r>
            <a:endParaRPr lang="en-DE" dirty="0"/>
          </a:p>
        </p:txBody>
      </p:sp>
      <p:sp>
        <p:nvSpPr>
          <p:cNvPr id="4" name="Slide Number Placeholder 3"/>
          <p:cNvSpPr>
            <a:spLocks noGrp="1"/>
          </p:cNvSpPr>
          <p:nvPr>
            <p:ph type="sldNum" sz="quarter" idx="5"/>
          </p:nvPr>
        </p:nvSpPr>
        <p:spPr/>
        <p:txBody>
          <a:bodyPr/>
          <a:lstStyle/>
          <a:p>
            <a:fld id="{883452B6-285D-42CF-9A6F-7A7412069374}" type="slidenum">
              <a:rPr lang="en-DE" smtClean="0"/>
              <a:t>2</a:t>
            </a:fld>
            <a:endParaRPr lang="en-DE"/>
          </a:p>
        </p:txBody>
      </p:sp>
    </p:spTree>
    <p:extLst>
      <p:ext uri="{BB962C8B-B14F-4D97-AF65-F5344CB8AC3E}">
        <p14:creationId xmlns:p14="http://schemas.microsoft.com/office/powerpoint/2010/main" val="2255033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EDDEC-EB56-DC4E-2046-3E9B9F78E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94D3D-A5E4-8B8C-686E-B9284BEE6F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599F0-C44F-7931-A15D-4DD631797EA2}"/>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A955828D-2106-5D35-6C4F-E76E3F12ED2B}"/>
              </a:ext>
            </a:extLst>
          </p:cNvPr>
          <p:cNvSpPr>
            <a:spLocks noGrp="1"/>
          </p:cNvSpPr>
          <p:nvPr>
            <p:ph type="sldNum" sz="quarter" idx="5"/>
          </p:nvPr>
        </p:nvSpPr>
        <p:spPr/>
        <p:txBody>
          <a:bodyPr/>
          <a:lstStyle/>
          <a:p>
            <a:fld id="{883452B6-285D-42CF-9A6F-7A7412069374}" type="slidenum">
              <a:rPr lang="en-DE" smtClean="0"/>
              <a:t>3</a:t>
            </a:fld>
            <a:endParaRPr lang="en-DE"/>
          </a:p>
        </p:txBody>
      </p:sp>
    </p:spTree>
    <p:extLst>
      <p:ext uri="{BB962C8B-B14F-4D97-AF65-F5344CB8AC3E}">
        <p14:creationId xmlns:p14="http://schemas.microsoft.com/office/powerpoint/2010/main" val="3178978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510DB-0CAD-6959-4208-013BC79376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696DA-4F27-6DB2-045E-EB3DC0CE8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5110C4-8B46-A022-5A0E-1AA2B96337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GB" dirty="0"/>
            </a:br>
            <a:endParaRPr lang="en-DE" dirty="0"/>
          </a:p>
        </p:txBody>
      </p:sp>
      <p:sp>
        <p:nvSpPr>
          <p:cNvPr id="4" name="Slide Number Placeholder 3">
            <a:extLst>
              <a:ext uri="{FF2B5EF4-FFF2-40B4-BE49-F238E27FC236}">
                <a16:creationId xmlns:a16="http://schemas.microsoft.com/office/drawing/2014/main" id="{B85D49E2-C20E-6EC7-4C9B-A06014D81A86}"/>
              </a:ext>
            </a:extLst>
          </p:cNvPr>
          <p:cNvSpPr>
            <a:spLocks noGrp="1"/>
          </p:cNvSpPr>
          <p:nvPr>
            <p:ph type="sldNum" sz="quarter" idx="5"/>
          </p:nvPr>
        </p:nvSpPr>
        <p:spPr/>
        <p:txBody>
          <a:bodyPr/>
          <a:lstStyle/>
          <a:p>
            <a:fld id="{883452B6-285D-42CF-9A6F-7A7412069374}" type="slidenum">
              <a:rPr lang="en-DE" smtClean="0"/>
              <a:t>4</a:t>
            </a:fld>
            <a:endParaRPr lang="en-DE"/>
          </a:p>
        </p:txBody>
      </p:sp>
    </p:spTree>
    <p:extLst>
      <p:ext uri="{BB962C8B-B14F-4D97-AF65-F5344CB8AC3E}">
        <p14:creationId xmlns:p14="http://schemas.microsoft.com/office/powerpoint/2010/main" val="1211077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98F7E-D8A3-4003-F573-429910581A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1F57E-D613-B9D2-27BC-7FD761AEA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2D994C-64C9-BDA6-8217-C541DDC5B811}"/>
              </a:ext>
            </a:extLst>
          </p:cNvPr>
          <p:cNvSpPr>
            <a:spLocks noGrp="1"/>
          </p:cNvSpPr>
          <p:nvPr>
            <p:ph type="body" idx="1"/>
          </p:nvPr>
        </p:nvSpPr>
        <p:spPr/>
        <p:txBody>
          <a:bodyPr/>
          <a:lstStyle/>
          <a:p>
            <a:r>
              <a:rPr lang="en-GB" dirty="0"/>
              <a:t>In a lot of MD simulations particles that experience a field react to it via “Brownian relaxation” which means …</a:t>
            </a:r>
          </a:p>
          <a:p>
            <a:r>
              <a:rPr lang="en-GB" dirty="0"/>
              <a:t>Néel relaxation … , so the particle gains an additional degree of freedom, which leads to richer physics</a:t>
            </a:r>
            <a:endParaRPr lang="en-DE" dirty="0"/>
          </a:p>
        </p:txBody>
      </p:sp>
      <p:sp>
        <p:nvSpPr>
          <p:cNvPr id="4" name="Slide Number Placeholder 3">
            <a:extLst>
              <a:ext uri="{FF2B5EF4-FFF2-40B4-BE49-F238E27FC236}">
                <a16:creationId xmlns:a16="http://schemas.microsoft.com/office/drawing/2014/main" id="{3A565537-4AF5-7E3B-181E-614129309585}"/>
              </a:ext>
            </a:extLst>
          </p:cNvPr>
          <p:cNvSpPr>
            <a:spLocks noGrp="1"/>
          </p:cNvSpPr>
          <p:nvPr>
            <p:ph type="sldNum" sz="quarter" idx="5"/>
          </p:nvPr>
        </p:nvSpPr>
        <p:spPr/>
        <p:txBody>
          <a:bodyPr/>
          <a:lstStyle/>
          <a:p>
            <a:fld id="{883452B6-285D-42CF-9A6F-7A7412069374}" type="slidenum">
              <a:rPr lang="en-DE" smtClean="0"/>
              <a:t>5</a:t>
            </a:fld>
            <a:endParaRPr lang="en-DE"/>
          </a:p>
        </p:txBody>
      </p:sp>
    </p:spTree>
    <p:extLst>
      <p:ext uri="{BB962C8B-B14F-4D97-AF65-F5344CB8AC3E}">
        <p14:creationId xmlns:p14="http://schemas.microsoft.com/office/powerpoint/2010/main" val="3910075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SW model: describes one single domain particle, and takes into consideration two energy contributions. Zeeman…</a:t>
            </a:r>
            <a:br>
              <a:rPr lang="en-GB" dirty="0"/>
            </a:br>
            <a:endParaRPr lang="en-DE" dirty="0"/>
          </a:p>
        </p:txBody>
      </p:sp>
      <p:sp>
        <p:nvSpPr>
          <p:cNvPr id="4" name="Slide Number Placeholder 3"/>
          <p:cNvSpPr>
            <a:spLocks noGrp="1"/>
          </p:cNvSpPr>
          <p:nvPr>
            <p:ph type="sldNum" sz="quarter" idx="5"/>
          </p:nvPr>
        </p:nvSpPr>
        <p:spPr/>
        <p:txBody>
          <a:bodyPr/>
          <a:lstStyle/>
          <a:p>
            <a:fld id="{883452B6-285D-42CF-9A6F-7A7412069374}" type="slidenum">
              <a:rPr lang="en-DE" smtClean="0"/>
              <a:t>6</a:t>
            </a:fld>
            <a:endParaRPr lang="en-DE"/>
          </a:p>
        </p:txBody>
      </p:sp>
    </p:spTree>
    <p:extLst>
      <p:ext uri="{BB962C8B-B14F-4D97-AF65-F5344CB8AC3E}">
        <p14:creationId xmlns:p14="http://schemas.microsoft.com/office/powerpoint/2010/main" val="1571614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And the second contribution is the Anisotropy energy. Some bodies have a preferential axis to magnetize along.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Either because of their lattice, or shape. Generally speaking, things like to magnetize along their long axis. Both directions are equal.</a:t>
            </a:r>
          </a:p>
          <a:p>
            <a:endParaRPr lang="en-GB" dirty="0"/>
          </a:p>
          <a:p>
            <a:endParaRPr lang="en-DE" dirty="0"/>
          </a:p>
        </p:txBody>
      </p:sp>
      <p:sp>
        <p:nvSpPr>
          <p:cNvPr id="4" name="Slide Number Placeholder 3"/>
          <p:cNvSpPr>
            <a:spLocks noGrp="1"/>
          </p:cNvSpPr>
          <p:nvPr>
            <p:ph type="sldNum" sz="quarter" idx="5"/>
          </p:nvPr>
        </p:nvSpPr>
        <p:spPr/>
        <p:txBody>
          <a:bodyPr/>
          <a:lstStyle/>
          <a:p>
            <a:fld id="{883452B6-285D-42CF-9A6F-7A7412069374}" type="slidenum">
              <a:rPr lang="en-DE" smtClean="0"/>
              <a:t>7</a:t>
            </a:fld>
            <a:endParaRPr lang="en-DE"/>
          </a:p>
        </p:txBody>
      </p:sp>
    </p:spTree>
    <p:extLst>
      <p:ext uri="{BB962C8B-B14F-4D97-AF65-F5344CB8AC3E}">
        <p14:creationId xmlns:p14="http://schemas.microsoft.com/office/powerpoint/2010/main" val="2088673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6B2A0-DBA2-2C8F-8187-FC685F7EF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9E288-B5FD-0220-ECD6-5429F66D81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B38400-CEE3-6B72-5ED0-BB0C9EAF94DA}"/>
              </a:ext>
            </a:extLst>
          </p:cNvPr>
          <p:cNvSpPr>
            <a:spLocks noGrp="1"/>
          </p:cNvSpPr>
          <p:nvPr>
            <p:ph type="body" idx="1"/>
          </p:nvPr>
        </p:nvSpPr>
        <p:spPr/>
        <p:txBody>
          <a:bodyPr/>
          <a:lstStyle/>
          <a:p>
            <a:r>
              <a:rPr lang="en-GB" dirty="0"/>
              <a:t>For zero field, you get the solid curve which has two minima.  Once field is applied one minimum gets shallower and the other deeper. The curve in red shows what happens at the crit Field, where …</a:t>
            </a:r>
          </a:p>
          <a:p>
            <a:r>
              <a:rPr lang="en-GB" dirty="0"/>
              <a:t>Notice also that these are two types of </a:t>
            </a:r>
            <a:r>
              <a:rPr lang="en-GB" dirty="0" err="1"/>
              <a:t>tranistions</a:t>
            </a:r>
            <a:r>
              <a:rPr lang="en-GB" dirty="0"/>
              <a:t>. …</a:t>
            </a:r>
          </a:p>
        </p:txBody>
      </p:sp>
      <p:sp>
        <p:nvSpPr>
          <p:cNvPr id="4" name="Slide Number Placeholder 3">
            <a:extLst>
              <a:ext uri="{FF2B5EF4-FFF2-40B4-BE49-F238E27FC236}">
                <a16:creationId xmlns:a16="http://schemas.microsoft.com/office/drawing/2014/main" id="{E62834A9-8FAA-DF90-453C-11CA404C1997}"/>
              </a:ext>
            </a:extLst>
          </p:cNvPr>
          <p:cNvSpPr>
            <a:spLocks noGrp="1"/>
          </p:cNvSpPr>
          <p:nvPr>
            <p:ph type="sldNum" sz="quarter" idx="5"/>
          </p:nvPr>
        </p:nvSpPr>
        <p:spPr/>
        <p:txBody>
          <a:bodyPr/>
          <a:lstStyle/>
          <a:p>
            <a:fld id="{883452B6-285D-42CF-9A6F-7A7412069374}" type="slidenum">
              <a:rPr lang="en-DE" smtClean="0"/>
              <a:t>8</a:t>
            </a:fld>
            <a:endParaRPr lang="en-DE"/>
          </a:p>
        </p:txBody>
      </p:sp>
    </p:spTree>
    <p:extLst>
      <p:ext uri="{BB962C8B-B14F-4D97-AF65-F5344CB8AC3E}">
        <p14:creationId xmlns:p14="http://schemas.microsoft.com/office/powerpoint/2010/main" val="1606675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D1E64-9118-68E0-5E83-A00BD18E5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A7EC9-0DB9-0D85-1388-6A4A61D5CE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3A3629-212C-9F6F-9EF4-8794C122CF19}"/>
              </a:ext>
            </a:extLst>
          </p:cNvPr>
          <p:cNvSpPr>
            <a:spLocks noGrp="1"/>
          </p:cNvSpPr>
          <p:nvPr>
            <p:ph type="body" idx="1"/>
          </p:nvPr>
        </p:nvSpPr>
        <p:spPr/>
        <p:txBody>
          <a:bodyPr/>
          <a:lstStyle/>
          <a:p>
            <a:r>
              <a:rPr lang="en-GB" dirty="0"/>
              <a:t>This gives the picture the model is known for. The Stoner Wohlfarth asteroid</a:t>
            </a:r>
          </a:p>
          <a:p>
            <a:r>
              <a:rPr lang="en-GB" dirty="0"/>
              <a:t>Its shape gives the critical Field magnitude for each orientation of H </a:t>
            </a:r>
            <a:r>
              <a:rPr lang="en-GB" dirty="0" err="1"/>
              <a:t>w.r.t.</a:t>
            </a:r>
            <a:r>
              <a:rPr lang="en-GB" dirty="0"/>
              <a:t> the Easy and hard axis, in our picture z and x.</a:t>
            </a:r>
            <a:endParaRPr lang="en-DE" dirty="0"/>
          </a:p>
        </p:txBody>
      </p:sp>
      <p:sp>
        <p:nvSpPr>
          <p:cNvPr id="4" name="Slide Number Placeholder 3">
            <a:extLst>
              <a:ext uri="{FF2B5EF4-FFF2-40B4-BE49-F238E27FC236}">
                <a16:creationId xmlns:a16="http://schemas.microsoft.com/office/drawing/2014/main" id="{CA24D220-6B87-C4A6-2652-61AC9B345D73}"/>
              </a:ext>
            </a:extLst>
          </p:cNvPr>
          <p:cNvSpPr>
            <a:spLocks noGrp="1"/>
          </p:cNvSpPr>
          <p:nvPr>
            <p:ph type="sldNum" sz="quarter" idx="5"/>
          </p:nvPr>
        </p:nvSpPr>
        <p:spPr/>
        <p:txBody>
          <a:bodyPr/>
          <a:lstStyle/>
          <a:p>
            <a:fld id="{883452B6-285D-42CF-9A6F-7A7412069374}" type="slidenum">
              <a:rPr lang="en-DE" smtClean="0"/>
              <a:t>9</a:t>
            </a:fld>
            <a:endParaRPr lang="en-DE"/>
          </a:p>
        </p:txBody>
      </p:sp>
    </p:spTree>
    <p:extLst>
      <p:ext uri="{BB962C8B-B14F-4D97-AF65-F5344CB8AC3E}">
        <p14:creationId xmlns:p14="http://schemas.microsoft.com/office/powerpoint/2010/main" val="2228290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C5DE-E565-4B02-B58F-B3D0B0E6E3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6C50B-1036-44EC-EB20-78D6601FAB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DB656-3DF0-D050-7CC3-AA4108E4CD0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Sigma: Anisotropy parameter, KV/</a:t>
            </a:r>
            <a:r>
              <a:rPr lang="en-GB" dirty="0" err="1"/>
              <a:t>kT</a:t>
            </a:r>
            <a:endParaRPr lang="en-DE" dirty="0"/>
          </a:p>
          <a:p>
            <a:r>
              <a:rPr lang="en-GB" dirty="0" err="1"/>
              <a:t>Tau_D</a:t>
            </a:r>
            <a:r>
              <a:rPr lang="en-GB" dirty="0"/>
              <a:t>: Debye time, characteristic time scale for relaxation of </a:t>
            </a:r>
            <a:r>
              <a:rPr lang="en-GB"/>
              <a:t>magnetic moment</a:t>
            </a:r>
          </a:p>
          <a:p>
            <a:r>
              <a:rPr lang="en-GB"/>
              <a:t>Tau</a:t>
            </a:r>
            <a:r>
              <a:rPr lang="en-GB" dirty="0" err="1"/>
              <a:t>_N</a:t>
            </a:r>
            <a:r>
              <a:rPr lang="en-GB" dirty="0"/>
              <a:t> is referred to as Neel time, </a:t>
            </a:r>
            <a:r>
              <a:rPr lang="en-GB" dirty="0" err="1"/>
              <a:t>avg</a:t>
            </a:r>
            <a:r>
              <a:rPr lang="en-GB" dirty="0"/>
              <a:t> time it takes for thermal </a:t>
            </a:r>
            <a:r>
              <a:rPr lang="en-GB" dirty="0" err="1"/>
              <a:t>fluct</a:t>
            </a:r>
            <a:r>
              <a:rPr lang="en-GB" dirty="0"/>
              <a:t> to overcome the barrier</a:t>
            </a:r>
          </a:p>
        </p:txBody>
      </p:sp>
      <p:sp>
        <p:nvSpPr>
          <p:cNvPr id="4" name="Slide Number Placeholder 3">
            <a:extLst>
              <a:ext uri="{FF2B5EF4-FFF2-40B4-BE49-F238E27FC236}">
                <a16:creationId xmlns:a16="http://schemas.microsoft.com/office/drawing/2014/main" id="{76831A15-49DD-19D6-7164-D8AF6C048510}"/>
              </a:ext>
            </a:extLst>
          </p:cNvPr>
          <p:cNvSpPr>
            <a:spLocks noGrp="1"/>
          </p:cNvSpPr>
          <p:nvPr>
            <p:ph type="sldNum" sz="quarter" idx="5"/>
          </p:nvPr>
        </p:nvSpPr>
        <p:spPr/>
        <p:txBody>
          <a:bodyPr/>
          <a:lstStyle/>
          <a:p>
            <a:fld id="{883452B6-285D-42CF-9A6F-7A7412069374}" type="slidenum">
              <a:rPr lang="en-DE" smtClean="0"/>
              <a:t>10</a:t>
            </a:fld>
            <a:endParaRPr lang="en-DE"/>
          </a:p>
        </p:txBody>
      </p:sp>
    </p:spTree>
    <p:extLst>
      <p:ext uri="{BB962C8B-B14F-4D97-AF65-F5344CB8AC3E}">
        <p14:creationId xmlns:p14="http://schemas.microsoft.com/office/powerpoint/2010/main" val="89097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far: single particle. Now: multi –&gt; </a:t>
            </a:r>
            <a:r>
              <a:rPr lang="en-GB" dirty="0" err="1"/>
              <a:t>DpDp</a:t>
            </a:r>
            <a:r>
              <a:rPr lang="en-GB" dirty="0"/>
              <a:t>. Isn’t difficult to account for since the Model acts locally on the individual particles, and you can simply add the </a:t>
            </a:r>
            <a:r>
              <a:rPr lang="en-GB" dirty="0" err="1"/>
              <a:t>demag</a:t>
            </a:r>
            <a:r>
              <a:rPr lang="en-GB" dirty="0"/>
              <a:t> field to the effective field acting on it.</a:t>
            </a:r>
            <a:endParaRPr lang="en-DE" dirty="0"/>
          </a:p>
        </p:txBody>
      </p:sp>
      <p:sp>
        <p:nvSpPr>
          <p:cNvPr id="4" name="Slide Number Placeholder 3"/>
          <p:cNvSpPr>
            <a:spLocks noGrp="1"/>
          </p:cNvSpPr>
          <p:nvPr>
            <p:ph type="sldNum" sz="quarter" idx="5"/>
          </p:nvPr>
        </p:nvSpPr>
        <p:spPr/>
        <p:txBody>
          <a:bodyPr/>
          <a:lstStyle/>
          <a:p>
            <a:fld id="{883452B6-285D-42CF-9A6F-7A7412069374}" type="slidenum">
              <a:rPr lang="en-DE" smtClean="0"/>
              <a:t>11</a:t>
            </a:fld>
            <a:endParaRPr lang="en-DE"/>
          </a:p>
        </p:txBody>
      </p:sp>
    </p:spTree>
    <p:extLst>
      <p:ext uri="{BB962C8B-B14F-4D97-AF65-F5344CB8AC3E}">
        <p14:creationId xmlns:p14="http://schemas.microsoft.com/office/powerpoint/2010/main" val="4140471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DA3CB-CD80-EFC8-7B05-20F7BC047E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4964F-254C-AA65-EB8A-AAF22FC415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6CA4DD-ACBD-4438-3F89-4F83654728FF}"/>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6CCCAA80-F5AE-CB06-2039-C43081AD8771}"/>
              </a:ext>
            </a:extLst>
          </p:cNvPr>
          <p:cNvSpPr>
            <a:spLocks noGrp="1"/>
          </p:cNvSpPr>
          <p:nvPr>
            <p:ph type="sldNum" sz="quarter" idx="5"/>
          </p:nvPr>
        </p:nvSpPr>
        <p:spPr/>
        <p:txBody>
          <a:bodyPr/>
          <a:lstStyle/>
          <a:p>
            <a:fld id="{883452B6-285D-42CF-9A6F-7A7412069374}" type="slidenum">
              <a:rPr lang="en-DE" smtClean="0"/>
              <a:t>12</a:t>
            </a:fld>
            <a:endParaRPr lang="en-DE"/>
          </a:p>
        </p:txBody>
      </p:sp>
    </p:spTree>
    <p:extLst>
      <p:ext uri="{BB962C8B-B14F-4D97-AF65-F5344CB8AC3E}">
        <p14:creationId xmlns:p14="http://schemas.microsoft.com/office/powerpoint/2010/main" val="1269914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BB0E0-7245-6CEE-5155-C07B204AEF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E6B4CD-F2F9-54FC-E7EB-3F18A445E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F1BF0-66F7-670D-BAE8-065718BAF251}"/>
              </a:ext>
            </a:extLst>
          </p:cNvPr>
          <p:cNvSpPr>
            <a:spLocks noGrp="1"/>
          </p:cNvSpPr>
          <p:nvPr>
            <p:ph type="body" idx="1"/>
          </p:nvPr>
        </p:nvSpPr>
        <p:spPr/>
        <p:txBody>
          <a:bodyPr/>
          <a:lstStyle/>
          <a:p>
            <a:r>
              <a:rPr lang="en-GB" dirty="0"/>
              <a:t>For higher Lambda: Higher demagnetization Field</a:t>
            </a:r>
            <a:endParaRPr lang="en-DE" dirty="0"/>
          </a:p>
        </p:txBody>
      </p:sp>
      <p:sp>
        <p:nvSpPr>
          <p:cNvPr id="4" name="Slide Number Placeholder 3">
            <a:extLst>
              <a:ext uri="{FF2B5EF4-FFF2-40B4-BE49-F238E27FC236}">
                <a16:creationId xmlns:a16="http://schemas.microsoft.com/office/drawing/2014/main" id="{96006F5F-11D9-E4F6-E339-6780012886E6}"/>
              </a:ext>
            </a:extLst>
          </p:cNvPr>
          <p:cNvSpPr>
            <a:spLocks noGrp="1"/>
          </p:cNvSpPr>
          <p:nvPr>
            <p:ph type="sldNum" sz="quarter" idx="5"/>
          </p:nvPr>
        </p:nvSpPr>
        <p:spPr/>
        <p:txBody>
          <a:bodyPr/>
          <a:lstStyle/>
          <a:p>
            <a:fld id="{883452B6-285D-42CF-9A6F-7A7412069374}" type="slidenum">
              <a:rPr lang="en-DE" smtClean="0"/>
              <a:t>13</a:t>
            </a:fld>
            <a:endParaRPr lang="en-DE"/>
          </a:p>
        </p:txBody>
      </p:sp>
    </p:spTree>
    <p:extLst>
      <p:ext uri="{BB962C8B-B14F-4D97-AF65-F5344CB8AC3E}">
        <p14:creationId xmlns:p14="http://schemas.microsoft.com/office/powerpoint/2010/main" val="4076208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EF284-FD14-C7E3-7E46-82315DA2A1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2AA08-FC0B-D624-32DA-E157D0AA23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03E132-B448-563B-1E89-CFA1136B4846}"/>
              </a:ext>
            </a:extLst>
          </p:cNvPr>
          <p:cNvSpPr>
            <a:spLocks noGrp="1"/>
          </p:cNvSpPr>
          <p:nvPr>
            <p:ph type="body" idx="1"/>
          </p:nvPr>
        </p:nvSpPr>
        <p:spPr/>
        <p:txBody>
          <a:bodyPr/>
          <a:lstStyle/>
          <a:p>
            <a:r>
              <a:rPr lang="en-GB" dirty="0"/>
              <a:t>Higher anisotropy Coefficient: lower susceptibility. Random arrangement is more persistent, which leads to net zero magnetization</a:t>
            </a:r>
            <a:endParaRPr lang="en-DE" dirty="0"/>
          </a:p>
        </p:txBody>
      </p:sp>
      <p:sp>
        <p:nvSpPr>
          <p:cNvPr id="4" name="Slide Number Placeholder 3">
            <a:extLst>
              <a:ext uri="{FF2B5EF4-FFF2-40B4-BE49-F238E27FC236}">
                <a16:creationId xmlns:a16="http://schemas.microsoft.com/office/drawing/2014/main" id="{01D9717A-128A-95D6-BFB5-5C901A2BE578}"/>
              </a:ext>
            </a:extLst>
          </p:cNvPr>
          <p:cNvSpPr>
            <a:spLocks noGrp="1"/>
          </p:cNvSpPr>
          <p:nvPr>
            <p:ph type="sldNum" sz="quarter" idx="5"/>
          </p:nvPr>
        </p:nvSpPr>
        <p:spPr/>
        <p:txBody>
          <a:bodyPr/>
          <a:lstStyle/>
          <a:p>
            <a:fld id="{883452B6-285D-42CF-9A6F-7A7412069374}" type="slidenum">
              <a:rPr lang="en-DE" smtClean="0"/>
              <a:t>14</a:t>
            </a:fld>
            <a:endParaRPr lang="en-DE"/>
          </a:p>
        </p:txBody>
      </p:sp>
    </p:spTree>
    <p:extLst>
      <p:ext uri="{BB962C8B-B14F-4D97-AF65-F5344CB8AC3E}">
        <p14:creationId xmlns:p14="http://schemas.microsoft.com/office/powerpoint/2010/main" val="5121723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9BF06-790C-A3B5-7DD6-90F3215DCF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EFC3D2-0E49-472E-B988-D2F5AE92BC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DB5E92-E20D-F2B0-DD70-377342C9E65B}"/>
              </a:ext>
            </a:extLst>
          </p:cNvPr>
          <p:cNvSpPr>
            <a:spLocks noGrp="1"/>
          </p:cNvSpPr>
          <p:nvPr>
            <p:ph type="body" idx="1"/>
          </p:nvPr>
        </p:nvSpPr>
        <p:spPr/>
        <p:txBody>
          <a:bodyPr/>
          <a:lstStyle/>
          <a:p>
            <a:r>
              <a:rPr lang="en-GB" dirty="0"/>
              <a:t>Higher ratio: higher susceptibility, less demagnetizing effect since particles aren’t as bunched up</a:t>
            </a:r>
            <a:endParaRPr lang="en-DE" dirty="0"/>
          </a:p>
        </p:txBody>
      </p:sp>
      <p:sp>
        <p:nvSpPr>
          <p:cNvPr id="4" name="Slide Number Placeholder 3">
            <a:extLst>
              <a:ext uri="{FF2B5EF4-FFF2-40B4-BE49-F238E27FC236}">
                <a16:creationId xmlns:a16="http://schemas.microsoft.com/office/drawing/2014/main" id="{36E2CB9A-FB27-ABD4-AFCC-23AB1890B4C0}"/>
              </a:ext>
            </a:extLst>
          </p:cNvPr>
          <p:cNvSpPr>
            <a:spLocks noGrp="1"/>
          </p:cNvSpPr>
          <p:nvPr>
            <p:ph type="sldNum" sz="quarter" idx="5"/>
          </p:nvPr>
        </p:nvSpPr>
        <p:spPr/>
        <p:txBody>
          <a:bodyPr/>
          <a:lstStyle/>
          <a:p>
            <a:fld id="{883452B6-285D-42CF-9A6F-7A7412069374}" type="slidenum">
              <a:rPr lang="en-DE" smtClean="0"/>
              <a:t>15</a:t>
            </a:fld>
            <a:endParaRPr lang="en-DE"/>
          </a:p>
        </p:txBody>
      </p:sp>
    </p:spTree>
    <p:extLst>
      <p:ext uri="{BB962C8B-B14F-4D97-AF65-F5344CB8AC3E}">
        <p14:creationId xmlns:p14="http://schemas.microsoft.com/office/powerpoint/2010/main" val="241075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34103-5F37-73DE-7BDF-29F807F15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79C54E-25FA-DFF8-5DA2-04DF5DD3D1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EDA1E0-78A4-8031-5BDF-2DD74D8F04EF}"/>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1B09B542-2CAE-B08A-DEE7-7BCEEE64E40C}"/>
              </a:ext>
            </a:extLst>
          </p:cNvPr>
          <p:cNvSpPr>
            <a:spLocks noGrp="1"/>
          </p:cNvSpPr>
          <p:nvPr>
            <p:ph type="sldNum" sz="quarter" idx="5"/>
          </p:nvPr>
        </p:nvSpPr>
        <p:spPr/>
        <p:txBody>
          <a:bodyPr/>
          <a:lstStyle/>
          <a:p>
            <a:fld id="{883452B6-285D-42CF-9A6F-7A7412069374}" type="slidenum">
              <a:rPr lang="en-DE" smtClean="0"/>
              <a:t>16</a:t>
            </a:fld>
            <a:endParaRPr lang="en-DE"/>
          </a:p>
        </p:txBody>
      </p:sp>
    </p:spTree>
    <p:extLst>
      <p:ext uri="{BB962C8B-B14F-4D97-AF65-F5344CB8AC3E}">
        <p14:creationId xmlns:p14="http://schemas.microsoft.com/office/powerpoint/2010/main" val="3479529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98B55-F467-0A6F-77EF-2794767F06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E9CCCB2E-BA5D-2F5D-5EB0-CD7B1056D5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DD148616-122E-B952-27A8-112F7EAE4A06}"/>
              </a:ext>
            </a:extLst>
          </p:cNvPr>
          <p:cNvSpPr>
            <a:spLocks noGrp="1"/>
          </p:cNvSpPr>
          <p:nvPr>
            <p:ph type="dt" sz="half" idx="10"/>
          </p:nvPr>
        </p:nvSpPr>
        <p:spPr/>
        <p:txBody>
          <a:bodyPr/>
          <a:lstStyle/>
          <a:p>
            <a:fld id="{4F895F77-F7D4-430D-B948-76E136FDA39B}" type="datetimeFigureOut">
              <a:rPr lang="en-DE" smtClean="0"/>
              <a:t>25/06/2026</a:t>
            </a:fld>
            <a:endParaRPr lang="en-DE"/>
          </a:p>
        </p:txBody>
      </p:sp>
      <p:sp>
        <p:nvSpPr>
          <p:cNvPr id="5" name="Footer Placeholder 4">
            <a:extLst>
              <a:ext uri="{FF2B5EF4-FFF2-40B4-BE49-F238E27FC236}">
                <a16:creationId xmlns:a16="http://schemas.microsoft.com/office/drawing/2014/main" id="{1BA6714C-66AF-AD3D-6657-5E2E32E4B4B5}"/>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A2DAECB9-1D96-75D4-776D-F5D6347498A6}"/>
              </a:ext>
            </a:extLst>
          </p:cNvPr>
          <p:cNvSpPr>
            <a:spLocks noGrp="1"/>
          </p:cNvSpPr>
          <p:nvPr>
            <p:ph type="sldNum" sz="quarter" idx="12"/>
          </p:nvPr>
        </p:nvSpPr>
        <p:spPr/>
        <p:txBody>
          <a:bodyPr/>
          <a:lstStyle/>
          <a:p>
            <a:fld id="{6B6D4879-B8A2-4222-96D9-49B5843C7337}" type="slidenum">
              <a:rPr lang="en-DE" smtClean="0"/>
              <a:t>‹#›</a:t>
            </a:fld>
            <a:endParaRPr lang="en-DE"/>
          </a:p>
        </p:txBody>
      </p:sp>
    </p:spTree>
    <p:extLst>
      <p:ext uri="{BB962C8B-B14F-4D97-AF65-F5344CB8AC3E}">
        <p14:creationId xmlns:p14="http://schemas.microsoft.com/office/powerpoint/2010/main" val="233799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19A85-89A3-5B91-60AE-BC8EDD5D59EF}"/>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03D9AC33-D6D5-91C9-8D64-5C0D35D906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45ECEFFC-6642-7359-DD6F-AC3AF4A6360D}"/>
              </a:ext>
            </a:extLst>
          </p:cNvPr>
          <p:cNvSpPr>
            <a:spLocks noGrp="1"/>
          </p:cNvSpPr>
          <p:nvPr>
            <p:ph type="dt" sz="half" idx="10"/>
          </p:nvPr>
        </p:nvSpPr>
        <p:spPr/>
        <p:txBody>
          <a:bodyPr/>
          <a:lstStyle/>
          <a:p>
            <a:fld id="{4F895F77-F7D4-430D-B948-76E136FDA39B}" type="datetimeFigureOut">
              <a:rPr lang="en-DE" smtClean="0"/>
              <a:t>25/06/2026</a:t>
            </a:fld>
            <a:endParaRPr lang="en-DE"/>
          </a:p>
        </p:txBody>
      </p:sp>
      <p:sp>
        <p:nvSpPr>
          <p:cNvPr id="5" name="Footer Placeholder 4">
            <a:extLst>
              <a:ext uri="{FF2B5EF4-FFF2-40B4-BE49-F238E27FC236}">
                <a16:creationId xmlns:a16="http://schemas.microsoft.com/office/drawing/2014/main" id="{C3DC7A8A-B9D1-DB53-91C8-0739AC6D986D}"/>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03AB5B3A-7C99-4E3C-5EE5-980EB6FE3D49}"/>
              </a:ext>
            </a:extLst>
          </p:cNvPr>
          <p:cNvSpPr>
            <a:spLocks noGrp="1"/>
          </p:cNvSpPr>
          <p:nvPr>
            <p:ph type="sldNum" sz="quarter" idx="12"/>
          </p:nvPr>
        </p:nvSpPr>
        <p:spPr/>
        <p:txBody>
          <a:bodyPr/>
          <a:lstStyle/>
          <a:p>
            <a:fld id="{6B6D4879-B8A2-4222-96D9-49B5843C7337}" type="slidenum">
              <a:rPr lang="en-DE" smtClean="0"/>
              <a:t>‹#›</a:t>
            </a:fld>
            <a:endParaRPr lang="en-DE"/>
          </a:p>
        </p:txBody>
      </p:sp>
    </p:spTree>
    <p:extLst>
      <p:ext uri="{BB962C8B-B14F-4D97-AF65-F5344CB8AC3E}">
        <p14:creationId xmlns:p14="http://schemas.microsoft.com/office/powerpoint/2010/main" val="2629298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6443B-1427-D2D6-810F-CE918E8ED9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D6A8317E-593F-6D0E-5D57-50F0FD2C87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A0C9BB-581A-CAB6-35CA-E84AE930C5BD}"/>
              </a:ext>
            </a:extLst>
          </p:cNvPr>
          <p:cNvSpPr>
            <a:spLocks noGrp="1"/>
          </p:cNvSpPr>
          <p:nvPr>
            <p:ph type="dt" sz="half" idx="10"/>
          </p:nvPr>
        </p:nvSpPr>
        <p:spPr/>
        <p:txBody>
          <a:bodyPr/>
          <a:lstStyle/>
          <a:p>
            <a:fld id="{4F895F77-F7D4-430D-B948-76E136FDA39B}" type="datetimeFigureOut">
              <a:rPr lang="en-DE" smtClean="0"/>
              <a:t>25/06/2026</a:t>
            </a:fld>
            <a:endParaRPr lang="en-DE"/>
          </a:p>
        </p:txBody>
      </p:sp>
      <p:sp>
        <p:nvSpPr>
          <p:cNvPr id="5" name="Footer Placeholder 4">
            <a:extLst>
              <a:ext uri="{FF2B5EF4-FFF2-40B4-BE49-F238E27FC236}">
                <a16:creationId xmlns:a16="http://schemas.microsoft.com/office/drawing/2014/main" id="{9CE601BF-EACB-F7A2-B46D-B7E0ABFF15B2}"/>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283ED652-67D7-5835-D199-E83DE5822D9F}"/>
              </a:ext>
            </a:extLst>
          </p:cNvPr>
          <p:cNvSpPr>
            <a:spLocks noGrp="1"/>
          </p:cNvSpPr>
          <p:nvPr>
            <p:ph type="sldNum" sz="quarter" idx="12"/>
          </p:nvPr>
        </p:nvSpPr>
        <p:spPr/>
        <p:txBody>
          <a:bodyPr/>
          <a:lstStyle/>
          <a:p>
            <a:fld id="{6B6D4879-B8A2-4222-96D9-49B5843C7337}" type="slidenum">
              <a:rPr lang="en-DE" smtClean="0"/>
              <a:t>‹#›</a:t>
            </a:fld>
            <a:endParaRPr lang="en-DE"/>
          </a:p>
        </p:txBody>
      </p:sp>
    </p:spTree>
    <p:extLst>
      <p:ext uri="{BB962C8B-B14F-4D97-AF65-F5344CB8AC3E}">
        <p14:creationId xmlns:p14="http://schemas.microsoft.com/office/powerpoint/2010/main" val="2540559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76B5-8FB9-DB26-A123-19510B7D6B56}"/>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7CF30079-53B7-F2E3-AE6F-645ACB4683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E637F6F8-C83F-7A6A-A0CB-BF9D768F67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0B4F4F9A-BB8B-6CFF-708D-A54D2516F51F}"/>
              </a:ext>
            </a:extLst>
          </p:cNvPr>
          <p:cNvSpPr>
            <a:spLocks noGrp="1"/>
          </p:cNvSpPr>
          <p:nvPr>
            <p:ph type="dt" sz="half" idx="10"/>
          </p:nvPr>
        </p:nvSpPr>
        <p:spPr/>
        <p:txBody>
          <a:bodyPr/>
          <a:lstStyle/>
          <a:p>
            <a:fld id="{4F895F77-F7D4-430D-B948-76E136FDA39B}" type="datetimeFigureOut">
              <a:rPr lang="en-DE" smtClean="0"/>
              <a:t>25/06/2026</a:t>
            </a:fld>
            <a:endParaRPr lang="en-DE"/>
          </a:p>
        </p:txBody>
      </p:sp>
      <p:sp>
        <p:nvSpPr>
          <p:cNvPr id="6" name="Footer Placeholder 5">
            <a:extLst>
              <a:ext uri="{FF2B5EF4-FFF2-40B4-BE49-F238E27FC236}">
                <a16:creationId xmlns:a16="http://schemas.microsoft.com/office/drawing/2014/main" id="{07BA80A3-6729-A0E4-02BB-F9C9CDA5A109}"/>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8F06CB8B-FD87-73A7-E2DC-BE3CA896E02D}"/>
              </a:ext>
            </a:extLst>
          </p:cNvPr>
          <p:cNvSpPr>
            <a:spLocks noGrp="1"/>
          </p:cNvSpPr>
          <p:nvPr>
            <p:ph type="sldNum" sz="quarter" idx="12"/>
          </p:nvPr>
        </p:nvSpPr>
        <p:spPr/>
        <p:txBody>
          <a:bodyPr/>
          <a:lstStyle/>
          <a:p>
            <a:fld id="{6B6D4879-B8A2-4222-96D9-49B5843C7337}" type="slidenum">
              <a:rPr lang="en-DE" smtClean="0"/>
              <a:t>‹#›</a:t>
            </a:fld>
            <a:endParaRPr lang="en-DE"/>
          </a:p>
        </p:txBody>
      </p:sp>
    </p:spTree>
    <p:extLst>
      <p:ext uri="{BB962C8B-B14F-4D97-AF65-F5344CB8AC3E}">
        <p14:creationId xmlns:p14="http://schemas.microsoft.com/office/powerpoint/2010/main" val="3729962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54249-F488-7904-05F1-3560BD6B077E}"/>
              </a:ext>
            </a:extLst>
          </p:cNvPr>
          <p:cNvSpPr>
            <a:spLocks noGrp="1"/>
          </p:cNvSpPr>
          <p:nvPr>
            <p:ph type="title"/>
          </p:nvPr>
        </p:nvSpPr>
        <p:spPr>
          <a:xfrm>
            <a:off x="839788" y="365125"/>
            <a:ext cx="10515600" cy="1325563"/>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CB82EBA3-14FD-7AF8-9E7D-F5630F8ED0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DB626D-1BC4-04ED-9D7E-C4927AE2ED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E4EA364E-3180-DF5E-5026-8413ABCC41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81AC7D-B53A-1B72-DA2A-87D6DA7A24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1DE9E770-8A4B-E37A-033E-32581F3EE6F1}"/>
              </a:ext>
            </a:extLst>
          </p:cNvPr>
          <p:cNvSpPr>
            <a:spLocks noGrp="1"/>
          </p:cNvSpPr>
          <p:nvPr>
            <p:ph type="dt" sz="half" idx="10"/>
          </p:nvPr>
        </p:nvSpPr>
        <p:spPr/>
        <p:txBody>
          <a:bodyPr/>
          <a:lstStyle/>
          <a:p>
            <a:fld id="{4F895F77-F7D4-430D-B948-76E136FDA39B}" type="datetimeFigureOut">
              <a:rPr lang="en-DE" smtClean="0"/>
              <a:t>25/06/2026</a:t>
            </a:fld>
            <a:endParaRPr lang="en-DE"/>
          </a:p>
        </p:txBody>
      </p:sp>
      <p:sp>
        <p:nvSpPr>
          <p:cNvPr id="8" name="Footer Placeholder 7">
            <a:extLst>
              <a:ext uri="{FF2B5EF4-FFF2-40B4-BE49-F238E27FC236}">
                <a16:creationId xmlns:a16="http://schemas.microsoft.com/office/drawing/2014/main" id="{757E1235-9574-1556-A4A1-BFD59A284BF9}"/>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B9A7A5B1-B46D-EBE0-6448-CB8AF7559CB9}"/>
              </a:ext>
            </a:extLst>
          </p:cNvPr>
          <p:cNvSpPr>
            <a:spLocks noGrp="1"/>
          </p:cNvSpPr>
          <p:nvPr>
            <p:ph type="sldNum" sz="quarter" idx="12"/>
          </p:nvPr>
        </p:nvSpPr>
        <p:spPr/>
        <p:txBody>
          <a:bodyPr/>
          <a:lstStyle/>
          <a:p>
            <a:fld id="{6B6D4879-B8A2-4222-96D9-49B5843C7337}" type="slidenum">
              <a:rPr lang="en-DE" smtClean="0"/>
              <a:t>‹#›</a:t>
            </a:fld>
            <a:endParaRPr lang="en-DE"/>
          </a:p>
        </p:txBody>
      </p:sp>
    </p:spTree>
    <p:extLst>
      <p:ext uri="{BB962C8B-B14F-4D97-AF65-F5344CB8AC3E}">
        <p14:creationId xmlns:p14="http://schemas.microsoft.com/office/powerpoint/2010/main" val="2929385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C9FFC-F15C-D418-E699-AA1F69737855}"/>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0A47DBC2-2AA5-A834-BBBB-EBE683F5378F}"/>
              </a:ext>
            </a:extLst>
          </p:cNvPr>
          <p:cNvSpPr>
            <a:spLocks noGrp="1"/>
          </p:cNvSpPr>
          <p:nvPr>
            <p:ph type="dt" sz="half" idx="10"/>
          </p:nvPr>
        </p:nvSpPr>
        <p:spPr/>
        <p:txBody>
          <a:bodyPr/>
          <a:lstStyle/>
          <a:p>
            <a:fld id="{4F895F77-F7D4-430D-B948-76E136FDA39B}" type="datetimeFigureOut">
              <a:rPr lang="en-DE" smtClean="0"/>
              <a:t>25/06/2026</a:t>
            </a:fld>
            <a:endParaRPr lang="en-DE"/>
          </a:p>
        </p:txBody>
      </p:sp>
      <p:sp>
        <p:nvSpPr>
          <p:cNvPr id="4" name="Footer Placeholder 3">
            <a:extLst>
              <a:ext uri="{FF2B5EF4-FFF2-40B4-BE49-F238E27FC236}">
                <a16:creationId xmlns:a16="http://schemas.microsoft.com/office/drawing/2014/main" id="{634AC28B-7AB3-0164-5D84-4E900468F4E0}"/>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738F3B06-A649-AA12-06D1-0EB2FF28AEEB}"/>
              </a:ext>
            </a:extLst>
          </p:cNvPr>
          <p:cNvSpPr>
            <a:spLocks noGrp="1"/>
          </p:cNvSpPr>
          <p:nvPr>
            <p:ph type="sldNum" sz="quarter" idx="12"/>
          </p:nvPr>
        </p:nvSpPr>
        <p:spPr/>
        <p:txBody>
          <a:bodyPr/>
          <a:lstStyle/>
          <a:p>
            <a:fld id="{6B6D4879-B8A2-4222-96D9-49B5843C7337}" type="slidenum">
              <a:rPr lang="en-DE" smtClean="0"/>
              <a:t>‹#›</a:t>
            </a:fld>
            <a:endParaRPr lang="en-DE"/>
          </a:p>
        </p:txBody>
      </p:sp>
    </p:spTree>
    <p:extLst>
      <p:ext uri="{BB962C8B-B14F-4D97-AF65-F5344CB8AC3E}">
        <p14:creationId xmlns:p14="http://schemas.microsoft.com/office/powerpoint/2010/main" val="2751480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C968D4-87D7-B8F7-1C17-BDEC8D5EE886}"/>
              </a:ext>
            </a:extLst>
          </p:cNvPr>
          <p:cNvSpPr>
            <a:spLocks noGrp="1"/>
          </p:cNvSpPr>
          <p:nvPr>
            <p:ph type="dt" sz="half" idx="10"/>
          </p:nvPr>
        </p:nvSpPr>
        <p:spPr/>
        <p:txBody>
          <a:bodyPr/>
          <a:lstStyle/>
          <a:p>
            <a:fld id="{4F895F77-F7D4-430D-B948-76E136FDA39B}" type="datetimeFigureOut">
              <a:rPr lang="en-DE" smtClean="0"/>
              <a:t>25/06/2026</a:t>
            </a:fld>
            <a:endParaRPr lang="en-DE"/>
          </a:p>
        </p:txBody>
      </p:sp>
      <p:sp>
        <p:nvSpPr>
          <p:cNvPr id="3" name="Footer Placeholder 2">
            <a:extLst>
              <a:ext uri="{FF2B5EF4-FFF2-40B4-BE49-F238E27FC236}">
                <a16:creationId xmlns:a16="http://schemas.microsoft.com/office/drawing/2014/main" id="{D08E17A4-7033-61BF-95DF-25CD6BCEE23B}"/>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746E37BE-10EC-3B73-E740-0CBAA911F3F6}"/>
              </a:ext>
            </a:extLst>
          </p:cNvPr>
          <p:cNvSpPr>
            <a:spLocks noGrp="1"/>
          </p:cNvSpPr>
          <p:nvPr>
            <p:ph type="sldNum" sz="quarter" idx="12"/>
          </p:nvPr>
        </p:nvSpPr>
        <p:spPr/>
        <p:txBody>
          <a:bodyPr/>
          <a:lstStyle/>
          <a:p>
            <a:fld id="{6B6D4879-B8A2-4222-96D9-49B5843C7337}" type="slidenum">
              <a:rPr lang="en-DE" smtClean="0"/>
              <a:t>‹#›</a:t>
            </a:fld>
            <a:endParaRPr lang="en-DE"/>
          </a:p>
        </p:txBody>
      </p:sp>
    </p:spTree>
    <p:extLst>
      <p:ext uri="{BB962C8B-B14F-4D97-AF65-F5344CB8AC3E}">
        <p14:creationId xmlns:p14="http://schemas.microsoft.com/office/powerpoint/2010/main" val="391896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8F6E9-88A1-3971-A047-1E9BBCD2A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F313F0B6-8A06-D745-0754-C48B83C30D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1E1877DB-D264-5587-72D7-1FED79A72D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2DC59A-8468-5CD6-95C2-53BAAEB043D5}"/>
              </a:ext>
            </a:extLst>
          </p:cNvPr>
          <p:cNvSpPr>
            <a:spLocks noGrp="1"/>
          </p:cNvSpPr>
          <p:nvPr>
            <p:ph type="dt" sz="half" idx="10"/>
          </p:nvPr>
        </p:nvSpPr>
        <p:spPr/>
        <p:txBody>
          <a:bodyPr/>
          <a:lstStyle/>
          <a:p>
            <a:fld id="{4F895F77-F7D4-430D-B948-76E136FDA39B}" type="datetimeFigureOut">
              <a:rPr lang="en-DE" smtClean="0"/>
              <a:t>25/06/2026</a:t>
            </a:fld>
            <a:endParaRPr lang="en-DE"/>
          </a:p>
        </p:txBody>
      </p:sp>
      <p:sp>
        <p:nvSpPr>
          <p:cNvPr id="6" name="Footer Placeholder 5">
            <a:extLst>
              <a:ext uri="{FF2B5EF4-FFF2-40B4-BE49-F238E27FC236}">
                <a16:creationId xmlns:a16="http://schemas.microsoft.com/office/drawing/2014/main" id="{7AEAD79A-5814-BF07-F8E6-8B4EAA3F63EE}"/>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C001BB85-A445-056D-0AB4-898C96D65210}"/>
              </a:ext>
            </a:extLst>
          </p:cNvPr>
          <p:cNvSpPr>
            <a:spLocks noGrp="1"/>
          </p:cNvSpPr>
          <p:nvPr>
            <p:ph type="sldNum" sz="quarter" idx="12"/>
          </p:nvPr>
        </p:nvSpPr>
        <p:spPr/>
        <p:txBody>
          <a:bodyPr/>
          <a:lstStyle/>
          <a:p>
            <a:fld id="{6B6D4879-B8A2-4222-96D9-49B5843C7337}" type="slidenum">
              <a:rPr lang="en-DE" smtClean="0"/>
              <a:t>‹#›</a:t>
            </a:fld>
            <a:endParaRPr lang="en-DE"/>
          </a:p>
        </p:txBody>
      </p:sp>
    </p:spTree>
    <p:extLst>
      <p:ext uri="{BB962C8B-B14F-4D97-AF65-F5344CB8AC3E}">
        <p14:creationId xmlns:p14="http://schemas.microsoft.com/office/powerpoint/2010/main" val="2120675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31971-BF7B-C6BD-7745-651C2E5654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58D659EE-367B-844D-A8C8-D26BC183B2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159C51F2-D673-EA62-FA02-AF5EB9DDC1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8E2172-CC93-E297-D60D-D321BE234B00}"/>
              </a:ext>
            </a:extLst>
          </p:cNvPr>
          <p:cNvSpPr>
            <a:spLocks noGrp="1"/>
          </p:cNvSpPr>
          <p:nvPr>
            <p:ph type="dt" sz="half" idx="10"/>
          </p:nvPr>
        </p:nvSpPr>
        <p:spPr/>
        <p:txBody>
          <a:bodyPr/>
          <a:lstStyle/>
          <a:p>
            <a:fld id="{4F895F77-F7D4-430D-B948-76E136FDA39B}" type="datetimeFigureOut">
              <a:rPr lang="en-DE" smtClean="0"/>
              <a:t>25/06/2026</a:t>
            </a:fld>
            <a:endParaRPr lang="en-DE"/>
          </a:p>
        </p:txBody>
      </p:sp>
      <p:sp>
        <p:nvSpPr>
          <p:cNvPr id="6" name="Footer Placeholder 5">
            <a:extLst>
              <a:ext uri="{FF2B5EF4-FFF2-40B4-BE49-F238E27FC236}">
                <a16:creationId xmlns:a16="http://schemas.microsoft.com/office/drawing/2014/main" id="{0C2A3F24-7DF7-B49F-A3B5-F22C89AAA669}"/>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1A57DC99-22CF-DDDD-3B19-30B6C4734C4C}"/>
              </a:ext>
            </a:extLst>
          </p:cNvPr>
          <p:cNvSpPr>
            <a:spLocks noGrp="1"/>
          </p:cNvSpPr>
          <p:nvPr>
            <p:ph type="sldNum" sz="quarter" idx="12"/>
          </p:nvPr>
        </p:nvSpPr>
        <p:spPr/>
        <p:txBody>
          <a:bodyPr/>
          <a:lstStyle/>
          <a:p>
            <a:fld id="{6B6D4879-B8A2-4222-96D9-49B5843C7337}" type="slidenum">
              <a:rPr lang="en-DE" smtClean="0"/>
              <a:t>‹#›</a:t>
            </a:fld>
            <a:endParaRPr lang="en-DE"/>
          </a:p>
        </p:txBody>
      </p:sp>
    </p:spTree>
    <p:extLst>
      <p:ext uri="{BB962C8B-B14F-4D97-AF65-F5344CB8AC3E}">
        <p14:creationId xmlns:p14="http://schemas.microsoft.com/office/powerpoint/2010/main" val="108931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9930B-9506-5D44-E2EC-EE4BC543ACE9}"/>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350E6CDA-8870-4E38-42B3-9E939FB6B3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29933779-CB14-95F5-D276-5039FEDBBF2B}"/>
              </a:ext>
            </a:extLst>
          </p:cNvPr>
          <p:cNvSpPr>
            <a:spLocks noGrp="1"/>
          </p:cNvSpPr>
          <p:nvPr>
            <p:ph type="dt" sz="half" idx="10"/>
          </p:nvPr>
        </p:nvSpPr>
        <p:spPr/>
        <p:txBody>
          <a:bodyPr/>
          <a:lstStyle/>
          <a:p>
            <a:fld id="{4F895F77-F7D4-430D-B948-76E136FDA39B}" type="datetimeFigureOut">
              <a:rPr lang="en-DE" smtClean="0"/>
              <a:t>25/06/2026</a:t>
            </a:fld>
            <a:endParaRPr lang="en-DE"/>
          </a:p>
        </p:txBody>
      </p:sp>
      <p:sp>
        <p:nvSpPr>
          <p:cNvPr id="5" name="Footer Placeholder 4">
            <a:extLst>
              <a:ext uri="{FF2B5EF4-FFF2-40B4-BE49-F238E27FC236}">
                <a16:creationId xmlns:a16="http://schemas.microsoft.com/office/drawing/2014/main" id="{58C03ACC-361E-21E2-D0ED-915061E96669}"/>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96BB8023-0870-1AD1-4B6C-A2797AF77457}"/>
              </a:ext>
            </a:extLst>
          </p:cNvPr>
          <p:cNvSpPr>
            <a:spLocks noGrp="1"/>
          </p:cNvSpPr>
          <p:nvPr>
            <p:ph type="sldNum" sz="quarter" idx="12"/>
          </p:nvPr>
        </p:nvSpPr>
        <p:spPr/>
        <p:txBody>
          <a:bodyPr/>
          <a:lstStyle/>
          <a:p>
            <a:fld id="{6B6D4879-B8A2-4222-96D9-49B5843C7337}" type="slidenum">
              <a:rPr lang="en-DE" smtClean="0"/>
              <a:t>‹#›</a:t>
            </a:fld>
            <a:endParaRPr lang="en-DE"/>
          </a:p>
        </p:txBody>
      </p:sp>
    </p:spTree>
    <p:extLst>
      <p:ext uri="{BB962C8B-B14F-4D97-AF65-F5344CB8AC3E}">
        <p14:creationId xmlns:p14="http://schemas.microsoft.com/office/powerpoint/2010/main" val="3289702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969D81-F5B6-ED81-7441-D3C268219C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69BCA289-CC82-15DF-7227-27F19C413A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1A5E13ED-17F8-5A53-DFD9-B399835C4F9F}"/>
              </a:ext>
            </a:extLst>
          </p:cNvPr>
          <p:cNvSpPr>
            <a:spLocks noGrp="1"/>
          </p:cNvSpPr>
          <p:nvPr>
            <p:ph type="dt" sz="half" idx="10"/>
          </p:nvPr>
        </p:nvSpPr>
        <p:spPr/>
        <p:txBody>
          <a:bodyPr/>
          <a:lstStyle/>
          <a:p>
            <a:fld id="{4F895F77-F7D4-430D-B948-76E136FDA39B}" type="datetimeFigureOut">
              <a:rPr lang="en-DE" smtClean="0"/>
              <a:t>25/06/2026</a:t>
            </a:fld>
            <a:endParaRPr lang="en-DE"/>
          </a:p>
        </p:txBody>
      </p:sp>
      <p:sp>
        <p:nvSpPr>
          <p:cNvPr id="5" name="Footer Placeholder 4">
            <a:extLst>
              <a:ext uri="{FF2B5EF4-FFF2-40B4-BE49-F238E27FC236}">
                <a16:creationId xmlns:a16="http://schemas.microsoft.com/office/drawing/2014/main" id="{E3DB104E-7B3A-D1E8-B7A5-27641837C260}"/>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0B77A3AF-FC26-7393-0195-7160A1D14F04}"/>
              </a:ext>
            </a:extLst>
          </p:cNvPr>
          <p:cNvSpPr>
            <a:spLocks noGrp="1"/>
          </p:cNvSpPr>
          <p:nvPr>
            <p:ph type="sldNum" sz="quarter" idx="12"/>
          </p:nvPr>
        </p:nvSpPr>
        <p:spPr/>
        <p:txBody>
          <a:bodyPr/>
          <a:lstStyle/>
          <a:p>
            <a:fld id="{6B6D4879-B8A2-4222-96D9-49B5843C7337}" type="slidenum">
              <a:rPr lang="en-DE" smtClean="0"/>
              <a:t>‹#›</a:t>
            </a:fld>
            <a:endParaRPr lang="en-DE"/>
          </a:p>
        </p:txBody>
      </p:sp>
    </p:spTree>
    <p:extLst>
      <p:ext uri="{BB962C8B-B14F-4D97-AF65-F5344CB8AC3E}">
        <p14:creationId xmlns:p14="http://schemas.microsoft.com/office/powerpoint/2010/main" val="1043720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D6905A-B85E-42BC-304B-82E9B307DC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E"/>
          </a:p>
        </p:txBody>
      </p:sp>
      <p:sp>
        <p:nvSpPr>
          <p:cNvPr id="3" name="Text Placeholder 2">
            <a:extLst>
              <a:ext uri="{FF2B5EF4-FFF2-40B4-BE49-F238E27FC236}">
                <a16:creationId xmlns:a16="http://schemas.microsoft.com/office/drawing/2014/main" id="{6509113C-D28F-4F06-25DC-1F4203FB58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FEC4FC73-784F-D786-17DF-C3D590BB22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895F77-F7D4-430D-B948-76E136FDA39B}" type="datetimeFigureOut">
              <a:rPr lang="en-DE" smtClean="0"/>
              <a:t>25/06/2026</a:t>
            </a:fld>
            <a:endParaRPr lang="en-DE"/>
          </a:p>
        </p:txBody>
      </p:sp>
      <p:sp>
        <p:nvSpPr>
          <p:cNvPr id="5" name="Footer Placeholder 4">
            <a:extLst>
              <a:ext uri="{FF2B5EF4-FFF2-40B4-BE49-F238E27FC236}">
                <a16:creationId xmlns:a16="http://schemas.microsoft.com/office/drawing/2014/main" id="{210072AE-C8B4-E20B-5116-4B3DFB0FCA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
        <p:nvSpPr>
          <p:cNvPr id="6" name="Slide Number Placeholder 5">
            <a:extLst>
              <a:ext uri="{FF2B5EF4-FFF2-40B4-BE49-F238E27FC236}">
                <a16:creationId xmlns:a16="http://schemas.microsoft.com/office/drawing/2014/main" id="{65342200-292F-4195-2EB9-3D0ECC4C43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6D4879-B8A2-4222-96D9-49B5843C7337}" type="slidenum">
              <a:rPr lang="en-DE" smtClean="0"/>
              <a:t>‹#›</a:t>
            </a:fld>
            <a:endParaRPr lang="en-DE"/>
          </a:p>
        </p:txBody>
      </p:sp>
    </p:spTree>
    <p:extLst>
      <p:ext uri="{BB962C8B-B14F-4D97-AF65-F5344CB8AC3E}">
        <p14:creationId xmlns:p14="http://schemas.microsoft.com/office/powerpoint/2010/main" val="17222507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doi.org/10.1103/PhysRevB.111.014438"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doi.org/10.1103/PhysRevB.111.014438" TargetMode="Externa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doi.org/10.1103/PhysRevB.111.014438" TargetMode="Externa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customXml" Target="../ink/ink4.xml"/><Relationship Id="rId3" Type="http://schemas.openxmlformats.org/officeDocument/2006/relationships/image" Target="../media/image1.jpg"/><Relationship Id="rId7" Type="http://schemas.openxmlformats.org/officeDocument/2006/relationships/customXml" Target="../ink/ink1.xml"/><Relationship Id="rId12"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customXml" Target="../ink/ink3.xml"/><Relationship Id="rId5" Type="http://schemas.openxmlformats.org/officeDocument/2006/relationships/image" Target="../media/image12.png"/><Relationship Id="rId10" Type="http://schemas.openxmlformats.org/officeDocument/2006/relationships/image" Target="../media/image29.png"/><Relationship Id="rId4" Type="http://schemas.openxmlformats.org/officeDocument/2006/relationships/image" Target="../media/image11.png"/><Relationship Id="rId9" Type="http://schemas.openxmlformats.org/officeDocument/2006/relationships/customXml" Target="../ink/ink2.xml"/><Relationship Id="rId1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hyperlink" Target="https://doi.org/10.1103/PhysRevB.111.014438"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jp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9F19E93-7894-621F-340C-A3A96ECAFA76}"/>
              </a:ext>
            </a:extLst>
          </p:cNvPr>
          <p:cNvPicPr>
            <a:picLocks noChangeAspect="1"/>
          </p:cNvPicPr>
          <p:nvPr/>
        </p:nvPicPr>
        <p:blipFill>
          <a:blip r:embed="rId2"/>
          <a:stretch>
            <a:fillRect/>
          </a:stretch>
        </p:blipFill>
        <p:spPr>
          <a:xfrm>
            <a:off x="1289303" y="1119116"/>
            <a:ext cx="8123431" cy="2213635"/>
          </a:xfrm>
          <a:prstGeom prst="rect">
            <a:avLst/>
          </a:prstGeom>
          <a:noFill/>
        </p:spPr>
      </p:pic>
      <p:sp>
        <p:nvSpPr>
          <p:cNvPr id="12" name="Right Triangle 1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39217E-3CEA-E17F-A51F-D2D76298361D}"/>
              </a:ext>
            </a:extLst>
          </p:cNvPr>
          <p:cNvSpPr>
            <a:spLocks noGrp="1"/>
          </p:cNvSpPr>
          <p:nvPr>
            <p:ph type="ctrTitle"/>
          </p:nvPr>
        </p:nvSpPr>
        <p:spPr>
          <a:xfrm>
            <a:off x="1289304" y="3429000"/>
            <a:ext cx="8921672" cy="1713305"/>
          </a:xfrm>
        </p:spPr>
        <p:txBody>
          <a:bodyPr anchor="b">
            <a:normAutofit/>
          </a:bodyPr>
          <a:lstStyle/>
          <a:p>
            <a:pPr algn="l"/>
            <a:r>
              <a:rPr lang="en-GB" sz="3800" dirty="0"/>
              <a:t>Ellipsoid raspberry particles</a:t>
            </a:r>
            <a:br>
              <a:rPr lang="en-GB" sz="3800" dirty="0"/>
            </a:br>
            <a:r>
              <a:rPr lang="en-GB" sz="3800" dirty="0"/>
              <a:t>&amp;</a:t>
            </a:r>
            <a:br>
              <a:rPr lang="en-GB" sz="3800" dirty="0"/>
            </a:br>
            <a:r>
              <a:rPr lang="en-GB" sz="3800" dirty="0"/>
              <a:t>Thermal Stoner-Wohlfarth</a:t>
            </a:r>
            <a:endParaRPr lang="en-DE" sz="3800" dirty="0"/>
          </a:p>
        </p:txBody>
      </p:sp>
      <p:sp>
        <p:nvSpPr>
          <p:cNvPr id="3" name="Subtitle 2">
            <a:extLst>
              <a:ext uri="{FF2B5EF4-FFF2-40B4-BE49-F238E27FC236}">
                <a16:creationId xmlns:a16="http://schemas.microsoft.com/office/drawing/2014/main" id="{5A814B44-737E-1151-29C4-8286165FDE21}"/>
              </a:ext>
            </a:extLst>
          </p:cNvPr>
          <p:cNvSpPr>
            <a:spLocks noGrp="1"/>
          </p:cNvSpPr>
          <p:nvPr>
            <p:ph type="subTitle" idx="1"/>
          </p:nvPr>
        </p:nvSpPr>
        <p:spPr>
          <a:xfrm>
            <a:off x="1289303" y="5142305"/>
            <a:ext cx="7321298" cy="753165"/>
          </a:xfrm>
        </p:spPr>
        <p:txBody>
          <a:bodyPr anchor="t">
            <a:normAutofit/>
          </a:bodyPr>
          <a:lstStyle/>
          <a:p>
            <a:pPr algn="l"/>
            <a:r>
              <a:rPr lang="en-GB" sz="1900"/>
              <a:t>Florian Klee</a:t>
            </a:r>
          </a:p>
          <a:p>
            <a:pPr algn="l"/>
            <a:r>
              <a:rPr lang="en-GB" sz="1900"/>
              <a:t>Supervisor: Pedro A. Sánchez</a:t>
            </a:r>
            <a:endParaRPr lang="en-DE" sz="1900"/>
          </a:p>
        </p:txBody>
      </p:sp>
    </p:spTree>
    <p:extLst>
      <p:ext uri="{BB962C8B-B14F-4D97-AF65-F5344CB8AC3E}">
        <p14:creationId xmlns:p14="http://schemas.microsoft.com/office/powerpoint/2010/main" val="130403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8BE6A-7C5D-DEBF-0D1F-5C8EC54688AF}"/>
              </a:ext>
            </a:extLst>
          </p:cNvPr>
          <p:cNvSpPr>
            <a:spLocks noGrp="1"/>
          </p:cNvSpPr>
          <p:nvPr>
            <p:ph type="title"/>
          </p:nvPr>
        </p:nvSpPr>
        <p:spPr>
          <a:xfrm>
            <a:off x="168245" y="-327655"/>
            <a:ext cx="10515600" cy="1325563"/>
          </a:xfrm>
        </p:spPr>
        <p:txBody>
          <a:bodyPr>
            <a:normAutofit/>
          </a:bodyPr>
          <a:lstStyle/>
          <a:p>
            <a:r>
              <a:rPr lang="en-GB" sz="3600" dirty="0">
                <a:solidFill>
                  <a:srgbClr val="045BA7"/>
                </a:solidFill>
                <a:latin typeface="Arial Rounded MT Bold" panose="020F0704030504030204" pitchFamily="34" charset="0"/>
                <a:cs typeface="Segoe UI" panose="020B0502040204020203" pitchFamily="34" charset="0"/>
              </a:rPr>
              <a:t>The project</a:t>
            </a:r>
            <a:endParaRPr lang="en-DE" sz="3600" dirty="0">
              <a:solidFill>
                <a:srgbClr val="045BA7"/>
              </a:solidFill>
              <a:latin typeface="Arial Rounded MT Bold" panose="020F0704030504030204"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91058026-D50D-4A84-797F-495187C0993D}"/>
              </a:ext>
            </a:extLst>
          </p:cNvPr>
          <p:cNvSpPr>
            <a:spLocks noGrp="1"/>
          </p:cNvSpPr>
          <p:nvPr>
            <p:ph idx="1"/>
          </p:nvPr>
        </p:nvSpPr>
        <p:spPr>
          <a:xfrm>
            <a:off x="322152" y="1508754"/>
            <a:ext cx="10515600" cy="4351338"/>
          </a:xfrm>
        </p:spPr>
        <p:txBody>
          <a:bodyPr/>
          <a:lstStyle/>
          <a:p>
            <a:pPr>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Recreate effects shown in:</a:t>
            </a:r>
          </a:p>
          <a:p>
            <a:pPr marL="0" indent="0">
              <a:buClr>
                <a:srgbClr val="045BA7"/>
              </a:buClr>
              <a:buNone/>
            </a:pPr>
            <a:r>
              <a:rPr lang="en-GB" dirty="0">
                <a:latin typeface="Segoe UI" panose="020B0502040204020203" pitchFamily="34" charset="0"/>
                <a:cs typeface="Segoe UI" panose="020B0502040204020203" pitchFamily="34" charset="0"/>
              </a:rPr>
              <a:t>in simulation  </a:t>
            </a:r>
          </a:p>
        </p:txBody>
      </p:sp>
      <p:pic>
        <p:nvPicPr>
          <p:cNvPr id="5" name="Picture 4">
            <a:extLst>
              <a:ext uri="{FF2B5EF4-FFF2-40B4-BE49-F238E27FC236}">
                <a16:creationId xmlns:a16="http://schemas.microsoft.com/office/drawing/2014/main" id="{067C4B8B-EBB9-6BD2-2AFB-E8214E007310}"/>
              </a:ext>
            </a:extLst>
          </p:cNvPr>
          <p:cNvPicPr>
            <a:picLocks noChangeAspect="1"/>
          </p:cNvPicPr>
          <p:nvPr/>
        </p:nvPicPr>
        <p:blipFill>
          <a:blip r:embed="rId3"/>
          <a:stretch>
            <a:fillRect/>
          </a:stretch>
        </p:blipFill>
        <p:spPr>
          <a:xfrm>
            <a:off x="8125806" y="5696437"/>
            <a:ext cx="3971925" cy="1086142"/>
          </a:xfrm>
          <a:prstGeom prst="rect">
            <a:avLst/>
          </a:prstGeom>
          <a:noFill/>
          <a:ln cap="flat">
            <a:noFill/>
          </a:ln>
        </p:spPr>
      </p:pic>
      <p:sp>
        <p:nvSpPr>
          <p:cNvPr id="10" name="Rectangle 9">
            <a:extLst>
              <a:ext uri="{FF2B5EF4-FFF2-40B4-BE49-F238E27FC236}">
                <a16:creationId xmlns:a16="http://schemas.microsoft.com/office/drawing/2014/main" id="{633DB4EC-DF1D-36C3-9E87-4136DC2E5146}"/>
              </a:ext>
            </a:extLst>
          </p:cNvPr>
          <p:cNvSpPr/>
          <p:nvPr/>
        </p:nvSpPr>
        <p:spPr>
          <a:xfrm>
            <a:off x="0" y="655295"/>
            <a:ext cx="12192000" cy="247390"/>
          </a:xfrm>
          <a:prstGeom prst="rect">
            <a:avLst/>
          </a:prstGeom>
          <a:solidFill>
            <a:srgbClr val="606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12" name="Picture 11">
            <a:extLst>
              <a:ext uri="{FF2B5EF4-FFF2-40B4-BE49-F238E27FC236}">
                <a16:creationId xmlns:a16="http://schemas.microsoft.com/office/drawing/2014/main" id="{A4737063-C69C-FE1C-64F3-C727F35F7448}"/>
              </a:ext>
            </a:extLst>
          </p:cNvPr>
          <p:cNvPicPr>
            <a:picLocks noChangeAspect="1"/>
          </p:cNvPicPr>
          <p:nvPr/>
        </p:nvPicPr>
        <p:blipFill>
          <a:blip r:embed="rId4"/>
          <a:stretch>
            <a:fillRect/>
          </a:stretch>
        </p:blipFill>
        <p:spPr>
          <a:xfrm>
            <a:off x="4958317" y="1013976"/>
            <a:ext cx="6106377" cy="1743318"/>
          </a:xfrm>
          <a:prstGeom prst="rect">
            <a:avLst/>
          </a:prstGeom>
        </p:spPr>
      </p:pic>
      <p:sp>
        <p:nvSpPr>
          <p:cNvPr id="13" name="Rectangle 12">
            <a:extLst>
              <a:ext uri="{FF2B5EF4-FFF2-40B4-BE49-F238E27FC236}">
                <a16:creationId xmlns:a16="http://schemas.microsoft.com/office/drawing/2014/main" id="{59B9E74C-716B-42A9-17FF-F6ACF9B232A1}"/>
              </a:ext>
            </a:extLst>
          </p:cNvPr>
          <p:cNvSpPr/>
          <p:nvPr/>
        </p:nvSpPr>
        <p:spPr>
          <a:xfrm>
            <a:off x="4958317" y="1013976"/>
            <a:ext cx="6106377" cy="17433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17" name="Picture 16">
            <a:extLst>
              <a:ext uri="{FF2B5EF4-FFF2-40B4-BE49-F238E27FC236}">
                <a16:creationId xmlns:a16="http://schemas.microsoft.com/office/drawing/2014/main" id="{3BCD8076-A3B8-46B3-9C9A-B3E927327077}"/>
              </a:ext>
            </a:extLst>
          </p:cNvPr>
          <p:cNvPicPr>
            <a:picLocks noChangeAspect="1"/>
          </p:cNvPicPr>
          <p:nvPr/>
        </p:nvPicPr>
        <p:blipFill>
          <a:blip r:embed="rId5"/>
          <a:stretch>
            <a:fillRect/>
          </a:stretch>
        </p:blipFill>
        <p:spPr>
          <a:xfrm>
            <a:off x="94269" y="3077691"/>
            <a:ext cx="5673669" cy="3704888"/>
          </a:xfrm>
          <a:prstGeom prst="rect">
            <a:avLst/>
          </a:prstGeom>
        </p:spPr>
      </p:pic>
    </p:spTree>
    <p:extLst>
      <p:ext uri="{BB962C8B-B14F-4D97-AF65-F5344CB8AC3E}">
        <p14:creationId xmlns:p14="http://schemas.microsoft.com/office/powerpoint/2010/main" val="1749937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9B296-2C7F-201F-9794-641C1DB83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00641-647D-2277-4FDE-7A0385DAE73C}"/>
              </a:ext>
            </a:extLst>
          </p:cNvPr>
          <p:cNvSpPr>
            <a:spLocks noGrp="1"/>
          </p:cNvSpPr>
          <p:nvPr>
            <p:ph type="title"/>
          </p:nvPr>
        </p:nvSpPr>
        <p:spPr>
          <a:xfrm>
            <a:off x="168245" y="-327655"/>
            <a:ext cx="10515600" cy="1325563"/>
          </a:xfrm>
        </p:spPr>
        <p:txBody>
          <a:bodyPr>
            <a:normAutofit/>
          </a:bodyPr>
          <a:lstStyle/>
          <a:p>
            <a:r>
              <a:rPr lang="en-GB" sz="3600" dirty="0">
                <a:solidFill>
                  <a:srgbClr val="045BA7"/>
                </a:solidFill>
                <a:latin typeface="Arial Rounded MT Bold" panose="020F0704030504030204" pitchFamily="34" charset="0"/>
                <a:cs typeface="Segoe UI" panose="020B0502040204020203" pitchFamily="34" charset="0"/>
              </a:rPr>
              <a:t>Contents</a:t>
            </a:r>
            <a:endParaRPr lang="en-DE" sz="3600" dirty="0">
              <a:solidFill>
                <a:srgbClr val="045BA7"/>
              </a:solidFill>
              <a:latin typeface="Arial Rounded MT Bold" panose="020F0704030504030204"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193AC49D-7011-329E-6BE1-E14FDC6A8473}"/>
              </a:ext>
            </a:extLst>
          </p:cNvPr>
          <p:cNvSpPr>
            <a:spLocks noGrp="1"/>
          </p:cNvSpPr>
          <p:nvPr>
            <p:ph idx="1"/>
          </p:nvPr>
        </p:nvSpPr>
        <p:spPr>
          <a:xfrm>
            <a:off x="322152" y="1508754"/>
            <a:ext cx="10515600" cy="4351338"/>
          </a:xfrm>
        </p:spPr>
        <p:txBody>
          <a:bodyPr/>
          <a:lstStyle/>
          <a:p>
            <a:pPr>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Set up of raspberry ellipsoids to function as the rods </a:t>
            </a:r>
          </a:p>
          <a:p>
            <a:pPr>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Model used for their magnetic behaviour (Thermal SW)</a:t>
            </a:r>
          </a:p>
          <a:p>
            <a:pPr>
              <a:buClr>
                <a:srgbClr val="045BA7"/>
              </a:buClr>
              <a:buFont typeface="Wingdings" panose="05000000000000000000" pitchFamily="2" charset="2"/>
              <a:buChar char="§"/>
            </a:pPr>
            <a:endParaRPr lang="en-GB" dirty="0">
              <a:latin typeface="Segoe UI" panose="020B0502040204020203" pitchFamily="34" charset="0"/>
              <a:cs typeface="Segoe UI" panose="020B0502040204020203" pitchFamily="34" charset="0"/>
            </a:endParaRPr>
          </a:p>
          <a:p>
            <a:pPr>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Results of the Model applied to the Raspberries</a:t>
            </a:r>
          </a:p>
        </p:txBody>
      </p:sp>
      <p:pic>
        <p:nvPicPr>
          <p:cNvPr id="5" name="Picture 4">
            <a:extLst>
              <a:ext uri="{FF2B5EF4-FFF2-40B4-BE49-F238E27FC236}">
                <a16:creationId xmlns:a16="http://schemas.microsoft.com/office/drawing/2014/main" id="{95A80FD5-BFBF-7F5D-A031-DEFD32AA4DF9}"/>
              </a:ext>
            </a:extLst>
          </p:cNvPr>
          <p:cNvPicPr>
            <a:picLocks noChangeAspect="1"/>
          </p:cNvPicPr>
          <p:nvPr/>
        </p:nvPicPr>
        <p:blipFill>
          <a:blip r:embed="rId3"/>
          <a:stretch>
            <a:fillRect/>
          </a:stretch>
        </p:blipFill>
        <p:spPr>
          <a:xfrm>
            <a:off x="8125806" y="5696437"/>
            <a:ext cx="3971925" cy="1086142"/>
          </a:xfrm>
          <a:prstGeom prst="rect">
            <a:avLst/>
          </a:prstGeom>
          <a:noFill/>
          <a:ln cap="flat">
            <a:noFill/>
          </a:ln>
        </p:spPr>
      </p:pic>
      <p:sp>
        <p:nvSpPr>
          <p:cNvPr id="10" name="Rectangle 9">
            <a:extLst>
              <a:ext uri="{FF2B5EF4-FFF2-40B4-BE49-F238E27FC236}">
                <a16:creationId xmlns:a16="http://schemas.microsoft.com/office/drawing/2014/main" id="{72689A18-84A4-2269-7A72-5F2FF1111A20}"/>
              </a:ext>
            </a:extLst>
          </p:cNvPr>
          <p:cNvSpPr/>
          <p:nvPr/>
        </p:nvSpPr>
        <p:spPr>
          <a:xfrm>
            <a:off x="0" y="655295"/>
            <a:ext cx="12192000" cy="247390"/>
          </a:xfrm>
          <a:prstGeom prst="rect">
            <a:avLst/>
          </a:prstGeom>
          <a:solidFill>
            <a:srgbClr val="606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1140806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D91C0-E0B1-2DAB-F98D-0A7B221474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721B71-5295-01FB-5BD6-96BC37963F75}"/>
              </a:ext>
            </a:extLst>
          </p:cNvPr>
          <p:cNvSpPr>
            <a:spLocks noGrp="1"/>
          </p:cNvSpPr>
          <p:nvPr>
            <p:ph type="title"/>
          </p:nvPr>
        </p:nvSpPr>
        <p:spPr>
          <a:xfrm>
            <a:off x="168245" y="-327655"/>
            <a:ext cx="10515600" cy="1325563"/>
          </a:xfrm>
        </p:spPr>
        <p:txBody>
          <a:bodyPr>
            <a:normAutofit/>
          </a:bodyPr>
          <a:lstStyle/>
          <a:p>
            <a:r>
              <a:rPr lang="en-GB" sz="3600" dirty="0">
                <a:solidFill>
                  <a:srgbClr val="045BA7"/>
                </a:solidFill>
                <a:latin typeface="Arial Rounded MT Bold" panose="020F0704030504030204" pitchFamily="34" charset="0"/>
                <a:cs typeface="Segoe UI" panose="020B0502040204020203" pitchFamily="34" charset="0"/>
              </a:rPr>
              <a:t>Raspberry Ellipsoids</a:t>
            </a:r>
            <a:endParaRPr lang="en-DE" sz="3600" dirty="0">
              <a:solidFill>
                <a:srgbClr val="045BA7"/>
              </a:solidFill>
              <a:latin typeface="Arial Rounded MT Bold" panose="020F0704030504030204"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5A046BA3-7FE8-1963-35D4-2DAD94AC467D}"/>
              </a:ext>
            </a:extLst>
          </p:cNvPr>
          <p:cNvSpPr>
            <a:spLocks noGrp="1"/>
          </p:cNvSpPr>
          <p:nvPr>
            <p:ph idx="1"/>
          </p:nvPr>
        </p:nvSpPr>
        <p:spPr>
          <a:xfrm>
            <a:off x="304045" y="1253331"/>
            <a:ext cx="10515600" cy="4351338"/>
          </a:xfrm>
        </p:spPr>
        <p:txBody>
          <a:bodyPr/>
          <a:lstStyle/>
          <a:p>
            <a:pPr>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Motivation:</a:t>
            </a:r>
          </a:p>
          <a:p>
            <a:pPr lvl="1">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Structured surface</a:t>
            </a:r>
          </a:p>
          <a:p>
            <a:pPr marL="457200" lvl="1" indent="0">
              <a:buClr>
                <a:srgbClr val="045BA7"/>
              </a:buClr>
              <a:buNone/>
            </a:pPr>
            <a:r>
              <a:rPr lang="en-GB" dirty="0">
                <a:latin typeface="Segoe UI" panose="020B0502040204020203" pitchFamily="34" charset="0"/>
                <a:cs typeface="Segoe UI" panose="020B0502040204020203" pitchFamily="34" charset="0"/>
              </a:rPr>
              <a:t>	-&gt; Captures fluid dynamics</a:t>
            </a:r>
          </a:p>
          <a:p>
            <a:pPr lvl="1">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Multi-domain</a:t>
            </a:r>
          </a:p>
          <a:p>
            <a:pPr marL="914400" lvl="2" indent="0">
              <a:buClr>
                <a:srgbClr val="045BA7"/>
              </a:buClr>
              <a:buNone/>
            </a:pPr>
            <a:r>
              <a:rPr lang="en-GB" sz="2400" dirty="0">
                <a:latin typeface="Segoe UI" panose="020B0502040204020203" pitchFamily="34" charset="0"/>
                <a:cs typeface="Segoe UI" panose="020B0502040204020203" pitchFamily="34" charset="0"/>
              </a:rPr>
              <a:t>-&gt; Complex magnetic behaviours</a:t>
            </a:r>
          </a:p>
        </p:txBody>
      </p:sp>
      <p:pic>
        <p:nvPicPr>
          <p:cNvPr id="5" name="Picture 4">
            <a:extLst>
              <a:ext uri="{FF2B5EF4-FFF2-40B4-BE49-F238E27FC236}">
                <a16:creationId xmlns:a16="http://schemas.microsoft.com/office/drawing/2014/main" id="{2689B61D-9FE4-155C-FECE-EE46802464BA}"/>
              </a:ext>
            </a:extLst>
          </p:cNvPr>
          <p:cNvPicPr>
            <a:picLocks noChangeAspect="1"/>
          </p:cNvPicPr>
          <p:nvPr/>
        </p:nvPicPr>
        <p:blipFill>
          <a:blip r:embed="rId3"/>
          <a:stretch>
            <a:fillRect/>
          </a:stretch>
        </p:blipFill>
        <p:spPr>
          <a:xfrm>
            <a:off x="8125806" y="5696437"/>
            <a:ext cx="3971925" cy="1086142"/>
          </a:xfrm>
          <a:prstGeom prst="rect">
            <a:avLst/>
          </a:prstGeom>
          <a:noFill/>
          <a:ln cap="flat">
            <a:noFill/>
          </a:ln>
        </p:spPr>
      </p:pic>
      <p:sp>
        <p:nvSpPr>
          <p:cNvPr id="10" name="Rectangle 9">
            <a:extLst>
              <a:ext uri="{FF2B5EF4-FFF2-40B4-BE49-F238E27FC236}">
                <a16:creationId xmlns:a16="http://schemas.microsoft.com/office/drawing/2014/main" id="{0DFD8ADF-ECED-3775-05DC-0A45470A959F}"/>
              </a:ext>
            </a:extLst>
          </p:cNvPr>
          <p:cNvSpPr/>
          <p:nvPr/>
        </p:nvSpPr>
        <p:spPr>
          <a:xfrm>
            <a:off x="0" y="655295"/>
            <a:ext cx="12192000" cy="247390"/>
          </a:xfrm>
          <a:prstGeom prst="rect">
            <a:avLst/>
          </a:prstGeom>
          <a:solidFill>
            <a:srgbClr val="606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6" name="Picture 5">
            <a:extLst>
              <a:ext uri="{FF2B5EF4-FFF2-40B4-BE49-F238E27FC236}">
                <a16:creationId xmlns:a16="http://schemas.microsoft.com/office/drawing/2014/main" id="{10E04E90-14C4-CDA7-D1EF-99F98C5B3C0A}"/>
              </a:ext>
            </a:extLst>
          </p:cNvPr>
          <p:cNvPicPr>
            <a:picLocks noChangeAspect="1"/>
          </p:cNvPicPr>
          <p:nvPr/>
        </p:nvPicPr>
        <p:blipFill>
          <a:blip r:embed="rId4"/>
          <a:stretch>
            <a:fillRect/>
          </a:stretch>
        </p:blipFill>
        <p:spPr>
          <a:xfrm>
            <a:off x="304045" y="3691614"/>
            <a:ext cx="8809612" cy="1575511"/>
          </a:xfrm>
          <a:prstGeom prst="rect">
            <a:avLst/>
          </a:prstGeom>
        </p:spPr>
      </p:pic>
      <p:sp>
        <p:nvSpPr>
          <p:cNvPr id="7" name="Rectangle 6">
            <a:extLst>
              <a:ext uri="{FF2B5EF4-FFF2-40B4-BE49-F238E27FC236}">
                <a16:creationId xmlns:a16="http://schemas.microsoft.com/office/drawing/2014/main" id="{B5F6CAC1-FB84-4E08-2A7C-7CA8DF7FB185}"/>
              </a:ext>
            </a:extLst>
          </p:cNvPr>
          <p:cNvSpPr/>
          <p:nvPr/>
        </p:nvSpPr>
        <p:spPr>
          <a:xfrm>
            <a:off x="8246882" y="5029000"/>
            <a:ext cx="866775" cy="238125"/>
          </a:xfrm>
          <a:prstGeom prst="rect">
            <a:avLst/>
          </a:prstGeom>
          <a:solidFill>
            <a:srgbClr val="635C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128081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DD84F-94F0-0341-E526-4F36270B2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7BD21-56A1-B5BC-1AF9-6A0B8E609A7A}"/>
              </a:ext>
            </a:extLst>
          </p:cNvPr>
          <p:cNvSpPr>
            <a:spLocks noGrp="1"/>
          </p:cNvSpPr>
          <p:nvPr>
            <p:ph type="title"/>
          </p:nvPr>
        </p:nvSpPr>
        <p:spPr>
          <a:xfrm>
            <a:off x="168245" y="-327655"/>
            <a:ext cx="10515600" cy="1325563"/>
          </a:xfrm>
        </p:spPr>
        <p:txBody>
          <a:bodyPr>
            <a:normAutofit/>
          </a:bodyPr>
          <a:lstStyle/>
          <a:p>
            <a:r>
              <a:rPr lang="en-GB" sz="3600" dirty="0">
                <a:solidFill>
                  <a:srgbClr val="045BA7"/>
                </a:solidFill>
                <a:latin typeface="Arial Rounded MT Bold" panose="020F0704030504030204" pitchFamily="34" charset="0"/>
                <a:cs typeface="Segoe UI" panose="020B0502040204020203" pitchFamily="34" charset="0"/>
              </a:rPr>
              <a:t>Thermal Stoner-Wohlfarth</a:t>
            </a:r>
            <a:endParaRPr lang="en-DE" sz="3600" dirty="0">
              <a:solidFill>
                <a:srgbClr val="045BA7"/>
              </a:solidFill>
              <a:latin typeface="Arial Rounded MT Bold" panose="020F0704030504030204"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F286C4D0-1684-1664-3709-08CE920DB571}"/>
              </a:ext>
            </a:extLst>
          </p:cNvPr>
          <p:cNvSpPr>
            <a:spLocks noGrp="1"/>
          </p:cNvSpPr>
          <p:nvPr>
            <p:ph idx="1"/>
          </p:nvPr>
        </p:nvSpPr>
        <p:spPr>
          <a:xfrm>
            <a:off x="322152" y="1508754"/>
            <a:ext cx="10515600" cy="4351338"/>
          </a:xfrm>
        </p:spPr>
        <p:txBody>
          <a:bodyPr/>
          <a:lstStyle/>
          <a:p>
            <a:pPr>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Motivation: Decouple magnetic moment &amp; particle orientation</a:t>
            </a:r>
          </a:p>
          <a:p>
            <a:pPr marL="457200" lvl="1" indent="0">
              <a:buClr>
                <a:srgbClr val="045BA7"/>
              </a:buClr>
              <a:buNone/>
            </a:pPr>
            <a:r>
              <a:rPr lang="en-GB" dirty="0">
                <a:latin typeface="Segoe UI" panose="020B0502040204020203" pitchFamily="34" charset="0"/>
                <a:cs typeface="Segoe UI" panose="020B0502040204020203" pitchFamily="34" charset="0"/>
              </a:rPr>
              <a:t>Néel vs Brownian relaxation</a:t>
            </a:r>
          </a:p>
          <a:p>
            <a:pPr marL="0" indent="0">
              <a:buClr>
                <a:srgbClr val="045BA7"/>
              </a:buClr>
              <a:buNone/>
            </a:pPr>
            <a:endParaRPr lang="en-GB"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01E909B8-B2AC-9F9E-74A7-33320341F34C}"/>
              </a:ext>
            </a:extLst>
          </p:cNvPr>
          <p:cNvPicPr>
            <a:picLocks noChangeAspect="1"/>
          </p:cNvPicPr>
          <p:nvPr/>
        </p:nvPicPr>
        <p:blipFill>
          <a:blip r:embed="rId3"/>
          <a:stretch>
            <a:fillRect/>
          </a:stretch>
        </p:blipFill>
        <p:spPr>
          <a:xfrm>
            <a:off x="8125806" y="5696437"/>
            <a:ext cx="3971925" cy="1086142"/>
          </a:xfrm>
          <a:prstGeom prst="rect">
            <a:avLst/>
          </a:prstGeom>
          <a:noFill/>
          <a:ln cap="flat">
            <a:noFill/>
          </a:ln>
        </p:spPr>
      </p:pic>
      <p:sp>
        <p:nvSpPr>
          <p:cNvPr id="10" name="Rectangle 9">
            <a:extLst>
              <a:ext uri="{FF2B5EF4-FFF2-40B4-BE49-F238E27FC236}">
                <a16:creationId xmlns:a16="http://schemas.microsoft.com/office/drawing/2014/main" id="{A4F83949-54A5-8943-A428-D2B078B0D049}"/>
              </a:ext>
            </a:extLst>
          </p:cNvPr>
          <p:cNvSpPr/>
          <p:nvPr/>
        </p:nvSpPr>
        <p:spPr>
          <a:xfrm>
            <a:off x="0" y="655295"/>
            <a:ext cx="12192000" cy="247390"/>
          </a:xfrm>
          <a:prstGeom prst="rect">
            <a:avLst/>
          </a:prstGeom>
          <a:solidFill>
            <a:srgbClr val="606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 name="TextBox 5">
            <a:extLst>
              <a:ext uri="{FF2B5EF4-FFF2-40B4-BE49-F238E27FC236}">
                <a16:creationId xmlns:a16="http://schemas.microsoft.com/office/drawing/2014/main" id="{2470D311-FD8F-2C98-ACAE-375A3BCDBB58}"/>
              </a:ext>
            </a:extLst>
          </p:cNvPr>
          <p:cNvSpPr txBox="1"/>
          <p:nvPr/>
        </p:nvSpPr>
        <p:spPr>
          <a:xfrm>
            <a:off x="168245" y="5195319"/>
            <a:ext cx="6105236" cy="1477328"/>
          </a:xfrm>
          <a:prstGeom prst="rect">
            <a:avLst/>
          </a:prstGeom>
          <a:noFill/>
        </p:spPr>
        <p:txBody>
          <a:bodyPr wrap="square">
            <a:spAutoFit/>
          </a:bodyPr>
          <a:lstStyle/>
          <a:p>
            <a:r>
              <a:rPr lang="en-DE" sz="1800" dirty="0"/>
              <a:t>Deniz </a:t>
            </a:r>
            <a:r>
              <a:rPr lang="en-DE" sz="1800" dirty="0" err="1"/>
              <a:t>Mostara</a:t>
            </a:r>
            <a:r>
              <a:rPr lang="en-GB" sz="1800" dirty="0"/>
              <a:t>c et al</a:t>
            </a:r>
            <a:r>
              <a:rPr lang="en-DE" sz="1800" dirty="0"/>
              <a:t>. Thermal Stoner–Wohlfarth model for </a:t>
            </a:r>
            <a:r>
              <a:rPr lang="en-DE" sz="1800" dirty="0" err="1"/>
              <a:t>magnetodynamics</a:t>
            </a:r>
            <a:r>
              <a:rPr lang="en-DE" sz="1800" dirty="0"/>
              <a:t> of single domain nanoparticles: implementation and validation. </a:t>
            </a:r>
            <a:r>
              <a:rPr lang="en-DE" sz="1800" i="1" dirty="0"/>
              <a:t>Physical Review B</a:t>
            </a:r>
            <a:r>
              <a:rPr lang="en-DE" sz="1800" dirty="0"/>
              <a:t>, 111(1):014438, January 2025. </a:t>
            </a:r>
            <a:r>
              <a:rPr lang="en-DE" sz="1800" dirty="0">
                <a:hlinkClick r:id="rId4"/>
              </a:rPr>
              <a:t>doi:10.1103/PhysRevB.111.014438</a:t>
            </a:r>
            <a:r>
              <a:rPr lang="en-DE" sz="1800" dirty="0"/>
              <a:t>.</a:t>
            </a:r>
          </a:p>
        </p:txBody>
      </p:sp>
    </p:spTree>
    <p:extLst>
      <p:ext uri="{BB962C8B-B14F-4D97-AF65-F5344CB8AC3E}">
        <p14:creationId xmlns:p14="http://schemas.microsoft.com/office/powerpoint/2010/main" val="954726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19D76-6438-4C65-1935-5D7F64D707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B6F12-6F4A-50AD-43C8-AB8C5042A8FB}"/>
              </a:ext>
            </a:extLst>
          </p:cNvPr>
          <p:cNvSpPr>
            <a:spLocks noGrp="1"/>
          </p:cNvSpPr>
          <p:nvPr>
            <p:ph type="title"/>
          </p:nvPr>
        </p:nvSpPr>
        <p:spPr>
          <a:xfrm>
            <a:off x="168245" y="-327655"/>
            <a:ext cx="10515600" cy="1325563"/>
          </a:xfrm>
        </p:spPr>
        <p:txBody>
          <a:bodyPr>
            <a:normAutofit/>
          </a:bodyPr>
          <a:lstStyle/>
          <a:p>
            <a:r>
              <a:rPr lang="en-GB" sz="3600" dirty="0">
                <a:solidFill>
                  <a:srgbClr val="045BA7"/>
                </a:solidFill>
                <a:latin typeface="Arial Rounded MT Bold" panose="020F0704030504030204" pitchFamily="34" charset="0"/>
                <a:cs typeface="Segoe UI" panose="020B0502040204020203" pitchFamily="34" charset="0"/>
              </a:rPr>
              <a:t>Stoner-Wohlfarth</a:t>
            </a:r>
            <a:endParaRPr lang="en-DE" sz="3600" dirty="0">
              <a:solidFill>
                <a:srgbClr val="045BA7"/>
              </a:solidFill>
              <a:latin typeface="Arial Rounded MT Bold" panose="020F0704030504030204"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4B95DC47-F378-4D54-895F-EA040E09EFCB}"/>
              </a:ext>
            </a:extLst>
          </p:cNvPr>
          <p:cNvSpPr>
            <a:spLocks noGrp="1"/>
          </p:cNvSpPr>
          <p:nvPr>
            <p:ph idx="1"/>
          </p:nvPr>
        </p:nvSpPr>
        <p:spPr>
          <a:xfrm>
            <a:off x="322152" y="1508754"/>
            <a:ext cx="10515600" cy="4351338"/>
          </a:xfrm>
        </p:spPr>
        <p:txBody>
          <a:bodyPr/>
          <a:lstStyle/>
          <a:p>
            <a:pPr>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Zeeman Energy</a:t>
            </a:r>
          </a:p>
          <a:p>
            <a:pPr>
              <a:buClr>
                <a:srgbClr val="045BA7"/>
              </a:buClr>
              <a:buFont typeface="Wingdings" panose="05000000000000000000" pitchFamily="2" charset="2"/>
              <a:buChar char="§"/>
            </a:pPr>
            <a:endParaRPr lang="en-GB"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834C94BF-0631-66A0-7CAC-2ABD744BCFCB}"/>
              </a:ext>
            </a:extLst>
          </p:cNvPr>
          <p:cNvPicPr>
            <a:picLocks noChangeAspect="1"/>
          </p:cNvPicPr>
          <p:nvPr/>
        </p:nvPicPr>
        <p:blipFill>
          <a:blip r:embed="rId3"/>
          <a:stretch>
            <a:fillRect/>
          </a:stretch>
        </p:blipFill>
        <p:spPr>
          <a:xfrm>
            <a:off x="8125806" y="5696437"/>
            <a:ext cx="3971925" cy="1086142"/>
          </a:xfrm>
          <a:prstGeom prst="rect">
            <a:avLst/>
          </a:prstGeom>
          <a:noFill/>
          <a:ln cap="flat">
            <a:noFill/>
          </a:ln>
        </p:spPr>
      </p:pic>
      <p:pic>
        <p:nvPicPr>
          <p:cNvPr id="9" name="Picture 8">
            <a:extLst>
              <a:ext uri="{FF2B5EF4-FFF2-40B4-BE49-F238E27FC236}">
                <a16:creationId xmlns:a16="http://schemas.microsoft.com/office/drawing/2014/main" id="{0D44EDBB-019C-66D5-6F2A-FB7CA6A81DD9}"/>
              </a:ext>
            </a:extLst>
          </p:cNvPr>
          <p:cNvPicPr>
            <a:picLocks noChangeAspect="1"/>
          </p:cNvPicPr>
          <p:nvPr/>
        </p:nvPicPr>
        <p:blipFill>
          <a:blip r:embed="rId4"/>
          <a:stretch>
            <a:fillRect/>
          </a:stretch>
        </p:blipFill>
        <p:spPr>
          <a:xfrm>
            <a:off x="1119759" y="2876739"/>
            <a:ext cx="4110891" cy="3669782"/>
          </a:xfrm>
          <a:prstGeom prst="rect">
            <a:avLst/>
          </a:prstGeom>
        </p:spPr>
      </p:pic>
      <p:sp>
        <p:nvSpPr>
          <p:cNvPr id="10" name="Rectangle 9">
            <a:extLst>
              <a:ext uri="{FF2B5EF4-FFF2-40B4-BE49-F238E27FC236}">
                <a16:creationId xmlns:a16="http://schemas.microsoft.com/office/drawing/2014/main" id="{0BE31BE1-B754-10A3-B8F7-8ED8BCA2FDF7}"/>
              </a:ext>
            </a:extLst>
          </p:cNvPr>
          <p:cNvSpPr/>
          <p:nvPr/>
        </p:nvSpPr>
        <p:spPr>
          <a:xfrm>
            <a:off x="0" y="655295"/>
            <a:ext cx="12192000" cy="247390"/>
          </a:xfrm>
          <a:prstGeom prst="rect">
            <a:avLst/>
          </a:prstGeom>
          <a:solidFill>
            <a:srgbClr val="606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31" name="Picture 30">
            <a:extLst>
              <a:ext uri="{FF2B5EF4-FFF2-40B4-BE49-F238E27FC236}">
                <a16:creationId xmlns:a16="http://schemas.microsoft.com/office/drawing/2014/main" id="{14D2CA25-0AD1-7EDA-EAC1-FE68F2C82E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3636" y="1579524"/>
            <a:ext cx="2180349" cy="408815"/>
          </a:xfrm>
          <a:prstGeom prst="rect">
            <a:avLst/>
          </a:prstGeom>
        </p:spPr>
      </p:pic>
      <p:sp>
        <p:nvSpPr>
          <p:cNvPr id="11" name="TextBox 10">
            <a:extLst>
              <a:ext uri="{FF2B5EF4-FFF2-40B4-BE49-F238E27FC236}">
                <a16:creationId xmlns:a16="http://schemas.microsoft.com/office/drawing/2014/main" id="{207E6040-A000-C0AB-A7C9-0D00955FBDC0}"/>
              </a:ext>
            </a:extLst>
          </p:cNvPr>
          <p:cNvSpPr txBox="1"/>
          <p:nvPr/>
        </p:nvSpPr>
        <p:spPr>
          <a:xfrm>
            <a:off x="4221556" y="5657512"/>
            <a:ext cx="3404857" cy="646331"/>
          </a:xfrm>
          <a:prstGeom prst="rect">
            <a:avLst/>
          </a:prstGeom>
          <a:noFill/>
        </p:spPr>
        <p:txBody>
          <a:bodyPr wrap="square">
            <a:spAutoFit/>
          </a:bodyPr>
          <a:lstStyle/>
          <a:p>
            <a:r>
              <a:rPr lang="en-DE" sz="900" dirty="0"/>
              <a:t>Deniz </a:t>
            </a:r>
            <a:r>
              <a:rPr lang="en-DE" sz="900" dirty="0" err="1"/>
              <a:t>Mostara</a:t>
            </a:r>
            <a:r>
              <a:rPr lang="en-GB" sz="900" dirty="0"/>
              <a:t>c et al</a:t>
            </a:r>
            <a:r>
              <a:rPr lang="en-DE" sz="900" dirty="0"/>
              <a:t>. Thermal Stoner–Wohlfarth model for </a:t>
            </a:r>
            <a:r>
              <a:rPr lang="en-DE" sz="900" dirty="0" err="1"/>
              <a:t>magnetodynamics</a:t>
            </a:r>
            <a:r>
              <a:rPr lang="en-DE" sz="900" dirty="0"/>
              <a:t> of single domain nanoparticles: implementation and validation. </a:t>
            </a:r>
            <a:r>
              <a:rPr lang="en-DE" sz="900" i="1" dirty="0"/>
              <a:t>Physical Review B</a:t>
            </a:r>
            <a:r>
              <a:rPr lang="en-DE" sz="900" dirty="0"/>
              <a:t>, 111(1):014438, January 2025. </a:t>
            </a:r>
            <a:r>
              <a:rPr lang="en-DE" sz="900" dirty="0">
                <a:hlinkClick r:id="rId6"/>
              </a:rPr>
              <a:t>doi:10.1103/PhysRevB.111.014438</a:t>
            </a:r>
            <a:r>
              <a:rPr lang="en-DE" sz="900" dirty="0"/>
              <a:t>.</a:t>
            </a:r>
          </a:p>
        </p:txBody>
      </p:sp>
    </p:spTree>
    <p:extLst>
      <p:ext uri="{BB962C8B-B14F-4D97-AF65-F5344CB8AC3E}">
        <p14:creationId xmlns:p14="http://schemas.microsoft.com/office/powerpoint/2010/main" val="2551234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E2B87-251C-9C90-58BC-DB6C4322EF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9C388-62C9-39C3-B61B-0F2319E2467F}"/>
              </a:ext>
            </a:extLst>
          </p:cNvPr>
          <p:cNvSpPr>
            <a:spLocks noGrp="1"/>
          </p:cNvSpPr>
          <p:nvPr>
            <p:ph type="title"/>
          </p:nvPr>
        </p:nvSpPr>
        <p:spPr>
          <a:xfrm>
            <a:off x="168245" y="-327655"/>
            <a:ext cx="10515600" cy="1325563"/>
          </a:xfrm>
        </p:spPr>
        <p:txBody>
          <a:bodyPr>
            <a:normAutofit/>
          </a:bodyPr>
          <a:lstStyle/>
          <a:p>
            <a:r>
              <a:rPr lang="en-GB" sz="3600" dirty="0">
                <a:solidFill>
                  <a:srgbClr val="045BA7"/>
                </a:solidFill>
                <a:latin typeface="Arial Rounded MT Bold" panose="020F0704030504030204" pitchFamily="34" charset="0"/>
                <a:cs typeface="Segoe UI" panose="020B0502040204020203" pitchFamily="34" charset="0"/>
              </a:rPr>
              <a:t>Stoner-Wohlfarth</a:t>
            </a:r>
            <a:endParaRPr lang="en-DE" sz="3600" dirty="0">
              <a:solidFill>
                <a:srgbClr val="045BA7"/>
              </a:solidFill>
              <a:latin typeface="Arial Rounded MT Bold" panose="020F0704030504030204"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89AD751D-AA19-BCEC-7397-76E8F728AD12}"/>
              </a:ext>
            </a:extLst>
          </p:cNvPr>
          <p:cNvSpPr>
            <a:spLocks noGrp="1"/>
          </p:cNvSpPr>
          <p:nvPr>
            <p:ph idx="1"/>
          </p:nvPr>
        </p:nvSpPr>
        <p:spPr>
          <a:xfrm>
            <a:off x="322152" y="1508754"/>
            <a:ext cx="10515600" cy="4351338"/>
          </a:xfrm>
        </p:spPr>
        <p:txBody>
          <a:bodyPr/>
          <a:lstStyle/>
          <a:p>
            <a:pPr>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Zeeman Energy</a:t>
            </a:r>
          </a:p>
          <a:p>
            <a:pPr>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Anisotropy Energy</a:t>
            </a:r>
          </a:p>
          <a:p>
            <a:pPr>
              <a:buClr>
                <a:srgbClr val="045BA7"/>
              </a:buClr>
              <a:buFont typeface="Wingdings" panose="05000000000000000000" pitchFamily="2" charset="2"/>
              <a:buChar char="§"/>
            </a:pPr>
            <a:endParaRPr lang="en-GB"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87916ED5-2C67-1737-66B2-BA35E1EE9E2C}"/>
              </a:ext>
            </a:extLst>
          </p:cNvPr>
          <p:cNvPicPr>
            <a:picLocks noChangeAspect="1"/>
          </p:cNvPicPr>
          <p:nvPr/>
        </p:nvPicPr>
        <p:blipFill>
          <a:blip r:embed="rId3"/>
          <a:stretch>
            <a:fillRect/>
          </a:stretch>
        </p:blipFill>
        <p:spPr>
          <a:xfrm>
            <a:off x="8125806" y="5696437"/>
            <a:ext cx="3971925" cy="1086142"/>
          </a:xfrm>
          <a:prstGeom prst="rect">
            <a:avLst/>
          </a:prstGeom>
          <a:noFill/>
          <a:ln cap="flat">
            <a:noFill/>
          </a:ln>
        </p:spPr>
      </p:pic>
      <p:pic>
        <p:nvPicPr>
          <p:cNvPr id="9" name="Picture 8">
            <a:extLst>
              <a:ext uri="{FF2B5EF4-FFF2-40B4-BE49-F238E27FC236}">
                <a16:creationId xmlns:a16="http://schemas.microsoft.com/office/drawing/2014/main" id="{4024731B-82E0-09B0-A649-6ABBFD7A4AB1}"/>
              </a:ext>
            </a:extLst>
          </p:cNvPr>
          <p:cNvPicPr>
            <a:picLocks noChangeAspect="1"/>
          </p:cNvPicPr>
          <p:nvPr/>
        </p:nvPicPr>
        <p:blipFill>
          <a:blip r:embed="rId4"/>
          <a:stretch>
            <a:fillRect/>
          </a:stretch>
        </p:blipFill>
        <p:spPr>
          <a:xfrm>
            <a:off x="1119759" y="2876739"/>
            <a:ext cx="4110891" cy="3669782"/>
          </a:xfrm>
          <a:prstGeom prst="rect">
            <a:avLst/>
          </a:prstGeom>
        </p:spPr>
      </p:pic>
      <p:sp>
        <p:nvSpPr>
          <p:cNvPr id="10" name="Rectangle 9">
            <a:extLst>
              <a:ext uri="{FF2B5EF4-FFF2-40B4-BE49-F238E27FC236}">
                <a16:creationId xmlns:a16="http://schemas.microsoft.com/office/drawing/2014/main" id="{C95779D8-8726-7EC3-5D95-6DC66545328C}"/>
              </a:ext>
            </a:extLst>
          </p:cNvPr>
          <p:cNvSpPr/>
          <p:nvPr/>
        </p:nvSpPr>
        <p:spPr>
          <a:xfrm>
            <a:off x="0" y="655295"/>
            <a:ext cx="12192000" cy="247390"/>
          </a:xfrm>
          <a:prstGeom prst="rect">
            <a:avLst/>
          </a:prstGeom>
          <a:solidFill>
            <a:srgbClr val="606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16" name="Picture 15">
            <a:extLst>
              <a:ext uri="{FF2B5EF4-FFF2-40B4-BE49-F238E27FC236}">
                <a16:creationId xmlns:a16="http://schemas.microsoft.com/office/drawing/2014/main" id="{C86B0E33-6A30-B9B7-B55F-4EB57A86B5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3636" y="1579524"/>
            <a:ext cx="2180349" cy="408815"/>
          </a:xfrm>
          <a:prstGeom prst="rect">
            <a:avLst/>
          </a:prstGeom>
        </p:spPr>
      </p:pic>
      <p:sp>
        <p:nvSpPr>
          <p:cNvPr id="7" name="TextBox 6">
            <a:extLst>
              <a:ext uri="{FF2B5EF4-FFF2-40B4-BE49-F238E27FC236}">
                <a16:creationId xmlns:a16="http://schemas.microsoft.com/office/drawing/2014/main" id="{57F5CBC2-0E71-F495-C250-D6EE85626668}"/>
              </a:ext>
            </a:extLst>
          </p:cNvPr>
          <p:cNvSpPr txBox="1"/>
          <p:nvPr/>
        </p:nvSpPr>
        <p:spPr>
          <a:xfrm>
            <a:off x="4221556" y="5657512"/>
            <a:ext cx="3404857" cy="646331"/>
          </a:xfrm>
          <a:prstGeom prst="rect">
            <a:avLst/>
          </a:prstGeom>
          <a:noFill/>
        </p:spPr>
        <p:txBody>
          <a:bodyPr wrap="square">
            <a:spAutoFit/>
          </a:bodyPr>
          <a:lstStyle/>
          <a:p>
            <a:r>
              <a:rPr lang="en-DE" sz="900" dirty="0"/>
              <a:t>Deniz </a:t>
            </a:r>
            <a:r>
              <a:rPr lang="en-DE" sz="900" dirty="0" err="1"/>
              <a:t>Mostara</a:t>
            </a:r>
            <a:r>
              <a:rPr lang="en-GB" sz="900" dirty="0"/>
              <a:t>c et al</a:t>
            </a:r>
            <a:r>
              <a:rPr lang="en-DE" sz="900" dirty="0"/>
              <a:t>. Thermal Stoner–Wohlfarth model for </a:t>
            </a:r>
            <a:r>
              <a:rPr lang="en-DE" sz="900" dirty="0" err="1"/>
              <a:t>magnetodynamics</a:t>
            </a:r>
            <a:r>
              <a:rPr lang="en-DE" sz="900" dirty="0"/>
              <a:t> of single domain nanoparticles: implementation and validation. </a:t>
            </a:r>
            <a:r>
              <a:rPr lang="en-DE" sz="900" i="1" dirty="0"/>
              <a:t>Physical Review B</a:t>
            </a:r>
            <a:r>
              <a:rPr lang="en-DE" sz="900" dirty="0"/>
              <a:t>, 111(1):014438, January 2025. </a:t>
            </a:r>
            <a:r>
              <a:rPr lang="en-DE" sz="900" dirty="0">
                <a:hlinkClick r:id="rId6"/>
              </a:rPr>
              <a:t>doi:10.1103/PhysRevB.111.014438</a:t>
            </a:r>
            <a:r>
              <a:rPr lang="en-DE" sz="900" dirty="0"/>
              <a:t>.</a:t>
            </a:r>
          </a:p>
        </p:txBody>
      </p:sp>
      <p:pic>
        <p:nvPicPr>
          <p:cNvPr id="6" name="Picture 5">
            <a:extLst>
              <a:ext uri="{FF2B5EF4-FFF2-40B4-BE49-F238E27FC236}">
                <a16:creationId xmlns:a16="http://schemas.microsoft.com/office/drawing/2014/main" id="{E5CBF767-23E2-A363-3966-174F29CC417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24329" y="2108925"/>
            <a:ext cx="2410559" cy="365110"/>
          </a:xfrm>
          <a:prstGeom prst="rect">
            <a:avLst/>
          </a:prstGeom>
        </p:spPr>
      </p:pic>
    </p:spTree>
    <p:extLst>
      <p:ext uri="{BB962C8B-B14F-4D97-AF65-F5344CB8AC3E}">
        <p14:creationId xmlns:p14="http://schemas.microsoft.com/office/powerpoint/2010/main" val="4204320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7A365-D096-0209-62EF-CF842845861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8ABC6AE-E459-91AF-5F1B-1FF1B5EE3B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538" y="1168671"/>
            <a:ext cx="5852172" cy="4389129"/>
          </a:xfrm>
          <a:prstGeom prst="rect">
            <a:avLst/>
          </a:prstGeom>
        </p:spPr>
      </p:pic>
      <p:sp>
        <p:nvSpPr>
          <p:cNvPr id="2" name="Title 1">
            <a:extLst>
              <a:ext uri="{FF2B5EF4-FFF2-40B4-BE49-F238E27FC236}">
                <a16:creationId xmlns:a16="http://schemas.microsoft.com/office/drawing/2014/main" id="{5C39CDED-77E8-D984-7A59-FF97C8FE5E3C}"/>
              </a:ext>
            </a:extLst>
          </p:cNvPr>
          <p:cNvSpPr>
            <a:spLocks noGrp="1"/>
          </p:cNvSpPr>
          <p:nvPr>
            <p:ph type="title"/>
          </p:nvPr>
        </p:nvSpPr>
        <p:spPr>
          <a:xfrm>
            <a:off x="168245" y="-327655"/>
            <a:ext cx="10515600" cy="1325563"/>
          </a:xfrm>
        </p:spPr>
        <p:txBody>
          <a:bodyPr>
            <a:normAutofit/>
          </a:bodyPr>
          <a:lstStyle/>
          <a:p>
            <a:r>
              <a:rPr lang="en-GB" sz="3600" dirty="0">
                <a:solidFill>
                  <a:srgbClr val="045BA7"/>
                </a:solidFill>
                <a:latin typeface="Arial Rounded MT Bold" panose="020F0704030504030204" pitchFamily="34" charset="0"/>
                <a:cs typeface="Segoe UI" panose="020B0502040204020203" pitchFamily="34" charset="0"/>
              </a:rPr>
              <a:t>Stoner-Wohlfarth</a:t>
            </a:r>
            <a:endParaRPr lang="en-DE" sz="3600" dirty="0">
              <a:solidFill>
                <a:srgbClr val="045BA7"/>
              </a:solidFill>
              <a:latin typeface="Arial Rounded MT Bold" panose="020F0704030504030204" pitchFamily="34" charset="0"/>
              <a:cs typeface="Segoe UI" panose="020B0502040204020203" pitchFamily="34" charset="0"/>
            </a:endParaRPr>
          </a:p>
        </p:txBody>
      </p:sp>
      <p:pic>
        <p:nvPicPr>
          <p:cNvPr id="5" name="Picture 4">
            <a:extLst>
              <a:ext uri="{FF2B5EF4-FFF2-40B4-BE49-F238E27FC236}">
                <a16:creationId xmlns:a16="http://schemas.microsoft.com/office/drawing/2014/main" id="{1A414108-E96F-42AD-1FC0-D7D8C4A881DC}"/>
              </a:ext>
            </a:extLst>
          </p:cNvPr>
          <p:cNvPicPr>
            <a:picLocks noChangeAspect="1"/>
          </p:cNvPicPr>
          <p:nvPr/>
        </p:nvPicPr>
        <p:blipFill>
          <a:blip r:embed="rId4"/>
          <a:stretch>
            <a:fillRect/>
          </a:stretch>
        </p:blipFill>
        <p:spPr>
          <a:xfrm>
            <a:off x="8125806" y="5696437"/>
            <a:ext cx="3971925" cy="1086142"/>
          </a:xfrm>
          <a:prstGeom prst="rect">
            <a:avLst/>
          </a:prstGeom>
          <a:noFill/>
          <a:ln cap="flat">
            <a:noFill/>
          </a:ln>
        </p:spPr>
      </p:pic>
      <p:sp>
        <p:nvSpPr>
          <p:cNvPr id="10" name="Rectangle 9">
            <a:extLst>
              <a:ext uri="{FF2B5EF4-FFF2-40B4-BE49-F238E27FC236}">
                <a16:creationId xmlns:a16="http://schemas.microsoft.com/office/drawing/2014/main" id="{07FE38CF-6009-94F1-8309-76973BBDDD87}"/>
              </a:ext>
            </a:extLst>
          </p:cNvPr>
          <p:cNvSpPr/>
          <p:nvPr/>
        </p:nvSpPr>
        <p:spPr>
          <a:xfrm>
            <a:off x="0" y="655295"/>
            <a:ext cx="12192000" cy="247390"/>
          </a:xfrm>
          <a:prstGeom prst="rect">
            <a:avLst/>
          </a:prstGeom>
          <a:solidFill>
            <a:srgbClr val="606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 name="Oval 10">
            <a:extLst>
              <a:ext uri="{FF2B5EF4-FFF2-40B4-BE49-F238E27FC236}">
                <a16:creationId xmlns:a16="http://schemas.microsoft.com/office/drawing/2014/main" id="{59E821DF-0B68-CCC2-5BE1-DE7F726B6FC5}"/>
              </a:ext>
            </a:extLst>
          </p:cNvPr>
          <p:cNvSpPr/>
          <p:nvPr/>
        </p:nvSpPr>
        <p:spPr>
          <a:xfrm>
            <a:off x="2921717" y="1045379"/>
            <a:ext cx="298764" cy="51604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13" name="Straight Connector 12">
            <a:extLst>
              <a:ext uri="{FF2B5EF4-FFF2-40B4-BE49-F238E27FC236}">
                <a16:creationId xmlns:a16="http://schemas.microsoft.com/office/drawing/2014/main" id="{0E50EAD7-8BA8-1BEF-E5CE-0B413F0085E9}"/>
              </a:ext>
            </a:extLst>
          </p:cNvPr>
          <p:cNvCxnSpPr/>
          <p:nvPr/>
        </p:nvCxnSpPr>
        <p:spPr>
          <a:xfrm>
            <a:off x="3071100" y="1001113"/>
            <a:ext cx="0" cy="66793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0D1D6DDE-5F07-EA18-74F5-39EBEEBBD231}"/>
              </a:ext>
            </a:extLst>
          </p:cNvPr>
          <p:cNvCxnSpPr/>
          <p:nvPr/>
        </p:nvCxnSpPr>
        <p:spPr>
          <a:xfrm flipV="1">
            <a:off x="3294419" y="1050930"/>
            <a:ext cx="0" cy="44259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6" name="TextBox 15">
            <a:extLst>
              <a:ext uri="{FF2B5EF4-FFF2-40B4-BE49-F238E27FC236}">
                <a16:creationId xmlns:a16="http://schemas.microsoft.com/office/drawing/2014/main" id="{12E9C016-9CD1-AF10-379F-45A297E873DC}"/>
              </a:ext>
            </a:extLst>
          </p:cNvPr>
          <p:cNvSpPr txBox="1"/>
          <p:nvPr/>
        </p:nvSpPr>
        <p:spPr>
          <a:xfrm>
            <a:off x="3269889" y="1107997"/>
            <a:ext cx="348172" cy="369332"/>
          </a:xfrm>
          <a:prstGeom prst="rect">
            <a:avLst/>
          </a:prstGeom>
          <a:noFill/>
        </p:spPr>
        <p:txBody>
          <a:bodyPr wrap="none" rtlCol="0">
            <a:spAutoFit/>
          </a:bodyPr>
          <a:lstStyle/>
          <a:p>
            <a:r>
              <a:rPr lang="en-GB" dirty="0">
                <a:solidFill>
                  <a:schemeClr val="accent2"/>
                </a:solidFill>
              </a:rPr>
              <a:t>H</a:t>
            </a:r>
          </a:p>
        </p:txBody>
      </p:sp>
      <p:pic>
        <p:nvPicPr>
          <p:cNvPr id="8" name="Picture 7">
            <a:extLst>
              <a:ext uri="{FF2B5EF4-FFF2-40B4-BE49-F238E27FC236}">
                <a16:creationId xmlns:a16="http://schemas.microsoft.com/office/drawing/2014/main" id="{0AD3B868-891E-7A76-B5AF-F8C055D80F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02292" y="1168671"/>
            <a:ext cx="5852172" cy="4389129"/>
          </a:xfrm>
          <a:prstGeom prst="rect">
            <a:avLst/>
          </a:prstGeom>
        </p:spPr>
      </p:pic>
      <p:sp>
        <p:nvSpPr>
          <p:cNvPr id="17" name="Oval 16">
            <a:extLst>
              <a:ext uri="{FF2B5EF4-FFF2-40B4-BE49-F238E27FC236}">
                <a16:creationId xmlns:a16="http://schemas.microsoft.com/office/drawing/2014/main" id="{CAD2F5E0-926F-D6D3-D77B-F07CECAC2D9D}"/>
              </a:ext>
            </a:extLst>
          </p:cNvPr>
          <p:cNvSpPr/>
          <p:nvPr/>
        </p:nvSpPr>
        <p:spPr>
          <a:xfrm>
            <a:off x="8822139" y="1015905"/>
            <a:ext cx="298764" cy="51604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18" name="Straight Connector 17">
            <a:extLst>
              <a:ext uri="{FF2B5EF4-FFF2-40B4-BE49-F238E27FC236}">
                <a16:creationId xmlns:a16="http://schemas.microsoft.com/office/drawing/2014/main" id="{834CE52D-6A45-D006-5CB9-A8F007346D77}"/>
              </a:ext>
            </a:extLst>
          </p:cNvPr>
          <p:cNvCxnSpPr/>
          <p:nvPr/>
        </p:nvCxnSpPr>
        <p:spPr>
          <a:xfrm>
            <a:off x="8971522" y="971639"/>
            <a:ext cx="0" cy="66793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F13116C9-175F-C4B0-81BA-7B17B8FE790C}"/>
              </a:ext>
            </a:extLst>
          </p:cNvPr>
          <p:cNvCxnSpPr>
            <a:cxnSpLocks/>
          </p:cNvCxnSpPr>
          <p:nvPr/>
        </p:nvCxnSpPr>
        <p:spPr>
          <a:xfrm>
            <a:off x="9231055" y="1364003"/>
            <a:ext cx="475945"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0" name="TextBox 19">
            <a:extLst>
              <a:ext uri="{FF2B5EF4-FFF2-40B4-BE49-F238E27FC236}">
                <a16:creationId xmlns:a16="http://schemas.microsoft.com/office/drawing/2014/main" id="{788AE1A6-22F6-A876-3F1D-5B9A293C4905}"/>
              </a:ext>
            </a:extLst>
          </p:cNvPr>
          <p:cNvSpPr txBox="1"/>
          <p:nvPr/>
        </p:nvSpPr>
        <p:spPr>
          <a:xfrm>
            <a:off x="9270283" y="1030038"/>
            <a:ext cx="348172" cy="369332"/>
          </a:xfrm>
          <a:prstGeom prst="rect">
            <a:avLst/>
          </a:prstGeom>
          <a:noFill/>
        </p:spPr>
        <p:txBody>
          <a:bodyPr wrap="none" rtlCol="0">
            <a:spAutoFit/>
          </a:bodyPr>
          <a:lstStyle/>
          <a:p>
            <a:r>
              <a:rPr lang="en-GB" dirty="0">
                <a:solidFill>
                  <a:schemeClr val="accent2"/>
                </a:solidFill>
              </a:rPr>
              <a:t>H</a:t>
            </a:r>
          </a:p>
        </p:txBody>
      </p:sp>
    </p:spTree>
    <p:extLst>
      <p:ext uri="{BB962C8B-B14F-4D97-AF65-F5344CB8AC3E}">
        <p14:creationId xmlns:p14="http://schemas.microsoft.com/office/powerpoint/2010/main" val="353940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94E70-D22D-DC8E-0EE2-504B708E95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5399FB-2996-4146-5C2F-6E920B867304}"/>
              </a:ext>
            </a:extLst>
          </p:cNvPr>
          <p:cNvSpPr>
            <a:spLocks noGrp="1"/>
          </p:cNvSpPr>
          <p:nvPr>
            <p:ph type="title"/>
          </p:nvPr>
        </p:nvSpPr>
        <p:spPr>
          <a:xfrm>
            <a:off x="168245" y="-327655"/>
            <a:ext cx="10515600" cy="1325563"/>
          </a:xfrm>
        </p:spPr>
        <p:txBody>
          <a:bodyPr>
            <a:normAutofit/>
          </a:bodyPr>
          <a:lstStyle/>
          <a:p>
            <a:r>
              <a:rPr lang="en-GB" sz="3600" dirty="0">
                <a:solidFill>
                  <a:srgbClr val="045BA7"/>
                </a:solidFill>
                <a:latin typeface="Arial Rounded MT Bold" panose="020F0704030504030204" pitchFamily="34" charset="0"/>
                <a:cs typeface="Segoe UI" panose="020B0502040204020203" pitchFamily="34" charset="0"/>
              </a:rPr>
              <a:t>Stoner-Wohlfarth</a:t>
            </a:r>
            <a:endParaRPr lang="en-DE" sz="3600" dirty="0">
              <a:solidFill>
                <a:srgbClr val="045BA7"/>
              </a:solidFill>
              <a:latin typeface="Arial Rounded MT Bold" panose="020F0704030504030204" pitchFamily="34" charset="0"/>
              <a:cs typeface="Segoe UI" panose="020B0502040204020203" pitchFamily="34" charset="0"/>
            </a:endParaRPr>
          </a:p>
        </p:txBody>
      </p:sp>
      <p:pic>
        <p:nvPicPr>
          <p:cNvPr id="5" name="Picture 4">
            <a:extLst>
              <a:ext uri="{FF2B5EF4-FFF2-40B4-BE49-F238E27FC236}">
                <a16:creationId xmlns:a16="http://schemas.microsoft.com/office/drawing/2014/main" id="{8A27B164-7128-D7CC-20AC-365D5D1BBBD2}"/>
              </a:ext>
            </a:extLst>
          </p:cNvPr>
          <p:cNvPicPr>
            <a:picLocks noChangeAspect="1"/>
          </p:cNvPicPr>
          <p:nvPr/>
        </p:nvPicPr>
        <p:blipFill>
          <a:blip r:embed="rId3"/>
          <a:stretch>
            <a:fillRect/>
          </a:stretch>
        </p:blipFill>
        <p:spPr>
          <a:xfrm>
            <a:off x="8125806" y="5696437"/>
            <a:ext cx="3971925" cy="1086142"/>
          </a:xfrm>
          <a:prstGeom prst="rect">
            <a:avLst/>
          </a:prstGeom>
          <a:noFill/>
          <a:ln cap="flat">
            <a:noFill/>
          </a:ln>
        </p:spPr>
      </p:pic>
      <p:sp>
        <p:nvSpPr>
          <p:cNvPr id="10" name="Rectangle 9">
            <a:extLst>
              <a:ext uri="{FF2B5EF4-FFF2-40B4-BE49-F238E27FC236}">
                <a16:creationId xmlns:a16="http://schemas.microsoft.com/office/drawing/2014/main" id="{6E39138D-C0A7-0231-F13F-9B1EE16D312E}"/>
              </a:ext>
            </a:extLst>
          </p:cNvPr>
          <p:cNvSpPr/>
          <p:nvPr/>
        </p:nvSpPr>
        <p:spPr>
          <a:xfrm>
            <a:off x="0" y="655295"/>
            <a:ext cx="12192000" cy="247390"/>
          </a:xfrm>
          <a:prstGeom prst="rect">
            <a:avLst/>
          </a:prstGeom>
          <a:solidFill>
            <a:srgbClr val="606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4" name="Picture 3">
            <a:extLst>
              <a:ext uri="{FF2B5EF4-FFF2-40B4-BE49-F238E27FC236}">
                <a16:creationId xmlns:a16="http://schemas.microsoft.com/office/drawing/2014/main" id="{C65E1AE4-6A82-F676-3DBE-B41E2C4CFB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47388" y="1212085"/>
            <a:ext cx="5852172" cy="4389129"/>
          </a:xfrm>
          <a:prstGeom prst="rect">
            <a:avLst/>
          </a:prstGeom>
        </p:spPr>
      </p:pic>
      <p:sp>
        <p:nvSpPr>
          <p:cNvPr id="11" name="Oval 10">
            <a:extLst>
              <a:ext uri="{FF2B5EF4-FFF2-40B4-BE49-F238E27FC236}">
                <a16:creationId xmlns:a16="http://schemas.microsoft.com/office/drawing/2014/main" id="{26B7BA2D-EE0A-491A-FDAA-5EB8B26DA155}"/>
              </a:ext>
            </a:extLst>
          </p:cNvPr>
          <p:cNvSpPr/>
          <p:nvPr/>
        </p:nvSpPr>
        <p:spPr>
          <a:xfrm>
            <a:off x="5531567" y="1088791"/>
            <a:ext cx="298764" cy="51604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13" name="Straight Connector 12">
            <a:extLst>
              <a:ext uri="{FF2B5EF4-FFF2-40B4-BE49-F238E27FC236}">
                <a16:creationId xmlns:a16="http://schemas.microsoft.com/office/drawing/2014/main" id="{E89B1C80-AF27-962F-156B-BDE5F59F9A88}"/>
              </a:ext>
            </a:extLst>
          </p:cNvPr>
          <p:cNvCxnSpPr/>
          <p:nvPr/>
        </p:nvCxnSpPr>
        <p:spPr>
          <a:xfrm>
            <a:off x="5680950" y="1044525"/>
            <a:ext cx="0" cy="66793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2B71EFC3-6F90-1F44-4E2E-9E4C075C7B80}"/>
              </a:ext>
            </a:extLst>
          </p:cNvPr>
          <p:cNvCxnSpPr>
            <a:cxnSpLocks/>
          </p:cNvCxnSpPr>
          <p:nvPr/>
        </p:nvCxnSpPr>
        <p:spPr>
          <a:xfrm flipV="1">
            <a:off x="5891688" y="1132675"/>
            <a:ext cx="386323" cy="37478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6" name="TextBox 15">
            <a:extLst>
              <a:ext uri="{FF2B5EF4-FFF2-40B4-BE49-F238E27FC236}">
                <a16:creationId xmlns:a16="http://schemas.microsoft.com/office/drawing/2014/main" id="{87B94A2D-5280-9041-0B58-6EF5C2CDE5EF}"/>
              </a:ext>
            </a:extLst>
          </p:cNvPr>
          <p:cNvSpPr txBox="1"/>
          <p:nvPr/>
        </p:nvSpPr>
        <p:spPr>
          <a:xfrm>
            <a:off x="6027961" y="1235506"/>
            <a:ext cx="348172" cy="369332"/>
          </a:xfrm>
          <a:prstGeom prst="rect">
            <a:avLst/>
          </a:prstGeom>
          <a:noFill/>
        </p:spPr>
        <p:txBody>
          <a:bodyPr wrap="none" rtlCol="0">
            <a:spAutoFit/>
          </a:bodyPr>
          <a:lstStyle/>
          <a:p>
            <a:r>
              <a:rPr lang="en-GB" dirty="0">
                <a:solidFill>
                  <a:schemeClr val="accent2"/>
                </a:solidFill>
              </a:rPr>
              <a:t>H</a:t>
            </a:r>
          </a:p>
        </p:txBody>
      </p:sp>
    </p:spTree>
    <p:extLst>
      <p:ext uri="{BB962C8B-B14F-4D97-AF65-F5344CB8AC3E}">
        <p14:creationId xmlns:p14="http://schemas.microsoft.com/office/powerpoint/2010/main" val="1847467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F094F-4125-D056-BE64-CFED4CAAFF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8199B1-023B-06E2-8B4D-41166D5D1F08}"/>
              </a:ext>
            </a:extLst>
          </p:cNvPr>
          <p:cNvSpPr>
            <a:spLocks noGrp="1"/>
          </p:cNvSpPr>
          <p:nvPr>
            <p:ph type="title"/>
          </p:nvPr>
        </p:nvSpPr>
        <p:spPr>
          <a:xfrm>
            <a:off x="168245" y="-327655"/>
            <a:ext cx="10515600" cy="1325563"/>
          </a:xfrm>
        </p:spPr>
        <p:txBody>
          <a:bodyPr>
            <a:normAutofit/>
          </a:bodyPr>
          <a:lstStyle/>
          <a:p>
            <a:r>
              <a:rPr lang="en-GB" sz="3600" dirty="0">
                <a:solidFill>
                  <a:srgbClr val="045BA7"/>
                </a:solidFill>
                <a:latin typeface="Arial Rounded MT Bold" panose="020F0704030504030204" pitchFamily="34" charset="0"/>
                <a:cs typeface="Segoe UI" panose="020B0502040204020203" pitchFamily="34" charset="0"/>
              </a:rPr>
              <a:t>Thermal Stoner-Wohlfarth</a:t>
            </a:r>
            <a:endParaRPr lang="en-DE" sz="3600" dirty="0">
              <a:solidFill>
                <a:srgbClr val="045BA7"/>
              </a:solidFill>
              <a:latin typeface="Arial Rounded MT Bold" panose="020F0704030504030204"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FA9D2315-FBC3-94D5-F5DA-FBA3D19810B5}"/>
              </a:ext>
            </a:extLst>
          </p:cNvPr>
          <p:cNvSpPr>
            <a:spLocks noGrp="1"/>
          </p:cNvSpPr>
          <p:nvPr>
            <p:ph idx="1"/>
          </p:nvPr>
        </p:nvSpPr>
        <p:spPr>
          <a:xfrm>
            <a:off x="322152" y="1508754"/>
            <a:ext cx="10515600" cy="4351338"/>
          </a:xfrm>
        </p:spPr>
        <p:txBody>
          <a:bodyPr/>
          <a:lstStyle/>
          <a:p>
            <a:pPr>
              <a:buClr>
                <a:srgbClr val="045BA7"/>
              </a:buClr>
              <a:buFont typeface="Wingdings" panose="05000000000000000000" pitchFamily="2" charset="2"/>
              <a:buChar char="§"/>
            </a:pPr>
            <a:r>
              <a:rPr lang="en-GB" dirty="0">
                <a:solidFill>
                  <a:schemeClr val="tx1">
                    <a:lumMod val="50000"/>
                    <a:lumOff val="50000"/>
                  </a:schemeClr>
                </a:solidFill>
                <a:latin typeface="Segoe UI" panose="020B0502040204020203" pitchFamily="34" charset="0"/>
                <a:cs typeface="Segoe UI" panose="020B0502040204020203" pitchFamily="34" charset="0"/>
              </a:rPr>
              <a:t>Motivation: Decouple magnetic moment &amp; anisotropy axis</a:t>
            </a:r>
          </a:p>
          <a:p>
            <a:pPr marL="457200" lvl="1" indent="0">
              <a:buClr>
                <a:srgbClr val="045BA7"/>
              </a:buClr>
              <a:buNone/>
            </a:pPr>
            <a:r>
              <a:rPr lang="en-GB" dirty="0">
                <a:solidFill>
                  <a:schemeClr val="tx1">
                    <a:lumMod val="50000"/>
                    <a:lumOff val="50000"/>
                  </a:schemeClr>
                </a:solidFill>
                <a:latin typeface="Segoe UI" panose="020B0502040204020203" pitchFamily="34" charset="0"/>
                <a:cs typeface="Segoe UI" panose="020B0502040204020203" pitchFamily="34" charset="0"/>
              </a:rPr>
              <a:t>Néel vs Brownian relaxation</a:t>
            </a:r>
          </a:p>
          <a:p>
            <a:pPr marL="0" indent="0">
              <a:buClr>
                <a:srgbClr val="045BA7"/>
              </a:buClr>
              <a:buNone/>
            </a:pPr>
            <a:endParaRPr lang="en-GB" dirty="0">
              <a:latin typeface="Segoe UI" panose="020B0502040204020203" pitchFamily="34" charset="0"/>
              <a:cs typeface="Segoe UI" panose="020B0502040204020203" pitchFamily="34" charset="0"/>
            </a:endParaRPr>
          </a:p>
          <a:p>
            <a:pPr>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MC steps between energy minima</a:t>
            </a:r>
          </a:p>
        </p:txBody>
      </p:sp>
      <p:pic>
        <p:nvPicPr>
          <p:cNvPr id="5" name="Picture 4">
            <a:extLst>
              <a:ext uri="{FF2B5EF4-FFF2-40B4-BE49-F238E27FC236}">
                <a16:creationId xmlns:a16="http://schemas.microsoft.com/office/drawing/2014/main" id="{53C56FB3-03B8-8221-BC34-CA6862F5C7D8}"/>
              </a:ext>
            </a:extLst>
          </p:cNvPr>
          <p:cNvPicPr>
            <a:picLocks noChangeAspect="1"/>
          </p:cNvPicPr>
          <p:nvPr/>
        </p:nvPicPr>
        <p:blipFill>
          <a:blip r:embed="rId3"/>
          <a:stretch>
            <a:fillRect/>
          </a:stretch>
        </p:blipFill>
        <p:spPr>
          <a:xfrm>
            <a:off x="8125806" y="5696437"/>
            <a:ext cx="3971925" cy="1086142"/>
          </a:xfrm>
          <a:prstGeom prst="rect">
            <a:avLst/>
          </a:prstGeom>
          <a:noFill/>
          <a:ln cap="flat">
            <a:noFill/>
          </a:ln>
        </p:spPr>
      </p:pic>
      <p:sp>
        <p:nvSpPr>
          <p:cNvPr id="10" name="Rectangle 9">
            <a:extLst>
              <a:ext uri="{FF2B5EF4-FFF2-40B4-BE49-F238E27FC236}">
                <a16:creationId xmlns:a16="http://schemas.microsoft.com/office/drawing/2014/main" id="{0F8A766F-4A35-E8A5-2B33-355913E9ED6D}"/>
              </a:ext>
            </a:extLst>
          </p:cNvPr>
          <p:cNvSpPr/>
          <p:nvPr/>
        </p:nvSpPr>
        <p:spPr>
          <a:xfrm>
            <a:off x="0" y="655295"/>
            <a:ext cx="12192000" cy="247390"/>
          </a:xfrm>
          <a:prstGeom prst="rect">
            <a:avLst/>
          </a:prstGeom>
          <a:solidFill>
            <a:srgbClr val="606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6" name="Picture 5">
            <a:extLst>
              <a:ext uri="{FF2B5EF4-FFF2-40B4-BE49-F238E27FC236}">
                <a16:creationId xmlns:a16="http://schemas.microsoft.com/office/drawing/2014/main" id="{B2C4D88B-0443-1133-3481-1DD719ABA7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3936" y="3554186"/>
            <a:ext cx="3001870" cy="930191"/>
          </a:xfrm>
          <a:prstGeom prst="rect">
            <a:avLst/>
          </a:prstGeom>
        </p:spPr>
      </p:pic>
      <p:pic>
        <p:nvPicPr>
          <p:cNvPr id="7" name="Picture 6">
            <a:extLst>
              <a:ext uri="{FF2B5EF4-FFF2-40B4-BE49-F238E27FC236}">
                <a16:creationId xmlns:a16="http://schemas.microsoft.com/office/drawing/2014/main" id="{04C0BF4B-F1B1-7801-85C3-60D8381888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9555" y="3791977"/>
            <a:ext cx="2371204" cy="454610"/>
          </a:xfrm>
          <a:prstGeom prst="rect">
            <a:avLst/>
          </a:prstGeom>
        </p:spPr>
      </p:pic>
      <p:sp>
        <p:nvSpPr>
          <p:cNvPr id="8" name="TextBox 7">
            <a:extLst>
              <a:ext uri="{FF2B5EF4-FFF2-40B4-BE49-F238E27FC236}">
                <a16:creationId xmlns:a16="http://schemas.microsoft.com/office/drawing/2014/main" id="{2F2EF54A-93B7-A267-4CC5-2FF122A31363}"/>
              </a:ext>
            </a:extLst>
          </p:cNvPr>
          <p:cNvSpPr txBox="1"/>
          <p:nvPr/>
        </p:nvSpPr>
        <p:spPr>
          <a:xfrm>
            <a:off x="4043437" y="3877255"/>
            <a:ext cx="615874" cy="369332"/>
          </a:xfrm>
          <a:prstGeom prst="rect">
            <a:avLst/>
          </a:prstGeom>
          <a:noFill/>
        </p:spPr>
        <p:txBody>
          <a:bodyPr wrap="none" rtlCol="0">
            <a:spAutoFit/>
          </a:bodyPr>
          <a:lstStyle/>
          <a:p>
            <a:r>
              <a:rPr lang="en-GB" dirty="0">
                <a:latin typeface="Segoe UI" panose="020B0502040204020203" pitchFamily="34" charset="0"/>
                <a:cs typeface="Segoe UI" panose="020B0502040204020203" pitchFamily="34" charset="0"/>
              </a:rPr>
              <a:t>with</a:t>
            </a:r>
            <a:endParaRPr lang="en-DE" dirty="0">
              <a:latin typeface="Segoe UI" panose="020B0502040204020203" pitchFamily="34" charset="0"/>
              <a:cs typeface="Segoe UI" panose="020B0502040204020203" pitchFamily="34" charset="0"/>
            </a:endParaRPr>
          </a:p>
        </p:txBody>
      </p:sp>
      <p:pic>
        <p:nvPicPr>
          <p:cNvPr id="11" name="Picture 10">
            <a:extLst>
              <a:ext uri="{FF2B5EF4-FFF2-40B4-BE49-F238E27FC236}">
                <a16:creationId xmlns:a16="http://schemas.microsoft.com/office/drawing/2014/main" id="{57B3EC44-75BE-CD13-3CB3-2EACC6DB94D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35968" y="3588612"/>
            <a:ext cx="2366409" cy="861337"/>
          </a:xfrm>
          <a:prstGeom prst="rect">
            <a:avLst/>
          </a:prstGeom>
        </p:spPr>
      </p:pic>
      <mc:AlternateContent xmlns:mc="http://schemas.openxmlformats.org/markup-compatibility/2006" xmlns:p14="http://schemas.microsoft.com/office/powerpoint/2010/main">
        <mc:Choice Requires="p14">
          <p:contentPart p14:bwMode="auto" r:id="rId7">
            <p14:nvContentPartPr>
              <p14:cNvPr id="23" name="Ink 22">
                <a:extLst>
                  <a:ext uri="{FF2B5EF4-FFF2-40B4-BE49-F238E27FC236}">
                    <a16:creationId xmlns:a16="http://schemas.microsoft.com/office/drawing/2014/main" id="{0827D2BB-28B2-ABFC-43EA-760175AFDF35}"/>
                  </a:ext>
                </a:extLst>
              </p14:cNvPr>
              <p14:cNvContentPartPr/>
              <p14:nvPr/>
            </p14:nvContentPartPr>
            <p14:xfrm>
              <a:off x="10646423" y="4276504"/>
              <a:ext cx="560880" cy="360"/>
            </p14:xfrm>
          </p:contentPart>
        </mc:Choice>
        <mc:Fallback xmlns="">
          <p:pic>
            <p:nvPicPr>
              <p:cNvPr id="23" name="Ink 22">
                <a:extLst>
                  <a:ext uri="{FF2B5EF4-FFF2-40B4-BE49-F238E27FC236}">
                    <a16:creationId xmlns:a16="http://schemas.microsoft.com/office/drawing/2014/main" id="{879B1B2C-3783-54CE-B047-8A598F47088D}"/>
                  </a:ext>
                </a:extLst>
              </p:cNvPr>
              <p:cNvPicPr/>
              <p:nvPr/>
            </p:nvPicPr>
            <p:blipFill>
              <a:blip r:embed="rId8"/>
              <a:stretch>
                <a:fillRect/>
              </a:stretch>
            </p:blipFill>
            <p:spPr>
              <a:xfrm>
                <a:off x="10556783" y="4096504"/>
                <a:ext cx="74052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6" name="Ink 25">
                <a:extLst>
                  <a:ext uri="{FF2B5EF4-FFF2-40B4-BE49-F238E27FC236}">
                    <a16:creationId xmlns:a16="http://schemas.microsoft.com/office/drawing/2014/main" id="{08AAD282-3C2D-627A-ADD8-6E80998BEC74}"/>
                  </a:ext>
                </a:extLst>
              </p14:cNvPr>
              <p14:cNvContentPartPr/>
              <p14:nvPr/>
            </p14:nvContentPartPr>
            <p14:xfrm>
              <a:off x="7523063" y="3868984"/>
              <a:ext cx="252720" cy="360"/>
            </p14:xfrm>
          </p:contentPart>
        </mc:Choice>
        <mc:Fallback xmlns="">
          <p:pic>
            <p:nvPicPr>
              <p:cNvPr id="26" name="Ink 25">
                <a:extLst>
                  <a:ext uri="{FF2B5EF4-FFF2-40B4-BE49-F238E27FC236}">
                    <a16:creationId xmlns:a16="http://schemas.microsoft.com/office/drawing/2014/main" id="{F578C019-7B20-B81E-877B-9EDB81F40D58}"/>
                  </a:ext>
                </a:extLst>
              </p:cNvPr>
              <p:cNvPicPr/>
              <p:nvPr/>
            </p:nvPicPr>
            <p:blipFill>
              <a:blip r:embed="rId10"/>
              <a:stretch>
                <a:fillRect/>
              </a:stretch>
            </p:blipFill>
            <p:spPr>
              <a:xfrm>
                <a:off x="7433063" y="3689344"/>
                <a:ext cx="43236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7" name="Ink 26">
                <a:extLst>
                  <a:ext uri="{FF2B5EF4-FFF2-40B4-BE49-F238E27FC236}">
                    <a16:creationId xmlns:a16="http://schemas.microsoft.com/office/drawing/2014/main" id="{F87FE37C-7195-26B5-4F0C-5A0319D2C334}"/>
                  </a:ext>
                </a:extLst>
              </p14:cNvPr>
              <p14:cNvContentPartPr/>
              <p14:nvPr/>
            </p14:nvContentPartPr>
            <p14:xfrm>
              <a:off x="2770343" y="3914344"/>
              <a:ext cx="61920" cy="360"/>
            </p14:xfrm>
          </p:contentPart>
        </mc:Choice>
        <mc:Fallback xmlns="">
          <p:pic>
            <p:nvPicPr>
              <p:cNvPr id="27" name="Ink 26">
                <a:extLst>
                  <a:ext uri="{FF2B5EF4-FFF2-40B4-BE49-F238E27FC236}">
                    <a16:creationId xmlns:a16="http://schemas.microsoft.com/office/drawing/2014/main" id="{3FBF0386-DC9C-14E2-9A90-8E1E895CDCC6}"/>
                  </a:ext>
                </a:extLst>
              </p:cNvPr>
              <p:cNvPicPr/>
              <p:nvPr/>
            </p:nvPicPr>
            <p:blipFill>
              <a:blip r:embed="rId12"/>
              <a:stretch>
                <a:fillRect/>
              </a:stretch>
            </p:blipFill>
            <p:spPr>
              <a:xfrm>
                <a:off x="2680343" y="3734344"/>
                <a:ext cx="24156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8" name="Ink 27">
                <a:extLst>
                  <a:ext uri="{FF2B5EF4-FFF2-40B4-BE49-F238E27FC236}">
                    <a16:creationId xmlns:a16="http://schemas.microsoft.com/office/drawing/2014/main" id="{25BF614A-81FD-25A7-B31E-A3D2B90737A5}"/>
                  </a:ext>
                </a:extLst>
              </p14:cNvPr>
              <p14:cNvContentPartPr/>
              <p14:nvPr/>
            </p14:nvContentPartPr>
            <p14:xfrm>
              <a:off x="10610063" y="4285504"/>
              <a:ext cx="135360" cy="360"/>
            </p14:xfrm>
          </p:contentPart>
        </mc:Choice>
        <mc:Fallback xmlns="">
          <p:pic>
            <p:nvPicPr>
              <p:cNvPr id="28" name="Ink 27">
                <a:extLst>
                  <a:ext uri="{FF2B5EF4-FFF2-40B4-BE49-F238E27FC236}">
                    <a16:creationId xmlns:a16="http://schemas.microsoft.com/office/drawing/2014/main" id="{3B59EA39-8CCE-74C0-8E8F-4CC96C2DA776}"/>
                  </a:ext>
                </a:extLst>
              </p:cNvPr>
              <p:cNvPicPr/>
              <p:nvPr/>
            </p:nvPicPr>
            <p:blipFill>
              <a:blip r:embed="rId14"/>
              <a:stretch>
                <a:fillRect/>
              </a:stretch>
            </p:blipFill>
            <p:spPr>
              <a:xfrm>
                <a:off x="10520423" y="4105504"/>
                <a:ext cx="315000" cy="360000"/>
              </a:xfrm>
              <a:prstGeom prst="rect">
                <a:avLst/>
              </a:prstGeom>
            </p:spPr>
          </p:pic>
        </mc:Fallback>
      </mc:AlternateContent>
      <p:cxnSp>
        <p:nvCxnSpPr>
          <p:cNvPr id="9" name="Straight Connector 8">
            <a:extLst>
              <a:ext uri="{FF2B5EF4-FFF2-40B4-BE49-F238E27FC236}">
                <a16:creationId xmlns:a16="http://schemas.microsoft.com/office/drawing/2014/main" id="{7CA1BF24-FBAF-0BC4-C0F4-C42DF6060946}"/>
              </a:ext>
            </a:extLst>
          </p:cNvPr>
          <p:cNvCxnSpPr/>
          <p:nvPr/>
        </p:nvCxnSpPr>
        <p:spPr>
          <a:xfrm>
            <a:off x="2586182" y="3914344"/>
            <a:ext cx="73891" cy="0"/>
          </a:xfrm>
          <a:prstGeom prst="line">
            <a:avLst/>
          </a:prstGeom>
          <a:ln w="127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68575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5A8B9-A65F-467A-7618-1935E81F38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1559B-51D5-B09D-9225-21455974D668}"/>
              </a:ext>
            </a:extLst>
          </p:cNvPr>
          <p:cNvSpPr>
            <a:spLocks noGrp="1"/>
          </p:cNvSpPr>
          <p:nvPr>
            <p:ph type="title"/>
          </p:nvPr>
        </p:nvSpPr>
        <p:spPr>
          <a:xfrm>
            <a:off x="168245" y="-327655"/>
            <a:ext cx="10515600" cy="1325563"/>
          </a:xfrm>
        </p:spPr>
        <p:txBody>
          <a:bodyPr>
            <a:normAutofit/>
          </a:bodyPr>
          <a:lstStyle/>
          <a:p>
            <a:r>
              <a:rPr lang="en-GB" sz="3600" dirty="0">
                <a:solidFill>
                  <a:srgbClr val="045BA7"/>
                </a:solidFill>
                <a:latin typeface="Arial Rounded MT Bold" panose="020F0704030504030204" pitchFamily="34" charset="0"/>
                <a:cs typeface="Segoe UI" panose="020B0502040204020203" pitchFamily="34" charset="0"/>
              </a:rPr>
              <a:t>Thermal Stoner-Wohlfarth</a:t>
            </a:r>
            <a:endParaRPr lang="en-DE" sz="3600" dirty="0">
              <a:solidFill>
                <a:srgbClr val="045BA7"/>
              </a:solidFill>
              <a:latin typeface="Arial Rounded MT Bold" panose="020F0704030504030204"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7C8BE82D-9164-E951-A758-5B1586A2F54F}"/>
              </a:ext>
            </a:extLst>
          </p:cNvPr>
          <p:cNvSpPr>
            <a:spLocks noGrp="1"/>
          </p:cNvSpPr>
          <p:nvPr>
            <p:ph idx="1"/>
          </p:nvPr>
        </p:nvSpPr>
        <p:spPr>
          <a:xfrm>
            <a:off x="322152" y="1508754"/>
            <a:ext cx="4889625" cy="4351338"/>
          </a:xfrm>
        </p:spPr>
        <p:txBody>
          <a:bodyPr/>
          <a:lstStyle/>
          <a:p>
            <a:pPr>
              <a:buClr>
                <a:srgbClr val="045BA7"/>
              </a:buClr>
              <a:buFont typeface="Wingdings" panose="05000000000000000000" pitchFamily="2" charset="2"/>
              <a:buChar char="§"/>
            </a:pPr>
            <a:r>
              <a:rPr lang="en-GB" dirty="0">
                <a:solidFill>
                  <a:schemeClr val="tx1">
                    <a:lumMod val="50000"/>
                    <a:lumOff val="50000"/>
                  </a:schemeClr>
                </a:solidFill>
                <a:latin typeface="Segoe UI" panose="020B0502040204020203" pitchFamily="34" charset="0"/>
                <a:cs typeface="Segoe UI" panose="020B0502040204020203" pitchFamily="34" charset="0"/>
              </a:rPr>
              <a:t>Zeeman Energy</a:t>
            </a:r>
          </a:p>
          <a:p>
            <a:pPr>
              <a:buClr>
                <a:srgbClr val="045BA7"/>
              </a:buClr>
              <a:buFont typeface="Wingdings" panose="05000000000000000000" pitchFamily="2" charset="2"/>
              <a:buChar char="§"/>
            </a:pPr>
            <a:r>
              <a:rPr lang="en-GB" dirty="0">
                <a:solidFill>
                  <a:schemeClr val="tx1">
                    <a:lumMod val="50000"/>
                    <a:lumOff val="50000"/>
                  </a:schemeClr>
                </a:solidFill>
                <a:latin typeface="Segoe UI" panose="020B0502040204020203" pitchFamily="34" charset="0"/>
                <a:cs typeface="Segoe UI" panose="020B0502040204020203" pitchFamily="34" charset="0"/>
              </a:rPr>
              <a:t>Anisotropy</a:t>
            </a:r>
          </a:p>
          <a:p>
            <a:pPr>
              <a:buClr>
                <a:srgbClr val="045BA7"/>
              </a:buClr>
              <a:buFont typeface="Wingdings" panose="05000000000000000000" pitchFamily="2" charset="2"/>
              <a:buChar char="§"/>
            </a:pPr>
            <a:endParaRPr lang="en-GB" dirty="0">
              <a:latin typeface="Segoe UI" panose="020B0502040204020203" pitchFamily="34" charset="0"/>
              <a:cs typeface="Segoe UI" panose="020B0502040204020203" pitchFamily="34" charset="0"/>
            </a:endParaRPr>
          </a:p>
          <a:p>
            <a:pPr>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Dipole-Dipole / Demag field </a:t>
            </a:r>
          </a:p>
        </p:txBody>
      </p:sp>
      <p:pic>
        <p:nvPicPr>
          <p:cNvPr id="5" name="Picture 4">
            <a:extLst>
              <a:ext uri="{FF2B5EF4-FFF2-40B4-BE49-F238E27FC236}">
                <a16:creationId xmlns:a16="http://schemas.microsoft.com/office/drawing/2014/main" id="{FD1C79FB-7839-CFAE-AE28-3107C3A2E718}"/>
              </a:ext>
            </a:extLst>
          </p:cNvPr>
          <p:cNvPicPr>
            <a:picLocks noChangeAspect="1"/>
          </p:cNvPicPr>
          <p:nvPr/>
        </p:nvPicPr>
        <p:blipFill>
          <a:blip r:embed="rId3"/>
          <a:stretch>
            <a:fillRect/>
          </a:stretch>
        </p:blipFill>
        <p:spPr>
          <a:xfrm>
            <a:off x="8125806" y="5696437"/>
            <a:ext cx="3971925" cy="1086142"/>
          </a:xfrm>
          <a:prstGeom prst="rect">
            <a:avLst/>
          </a:prstGeom>
          <a:noFill/>
          <a:ln cap="flat">
            <a:noFill/>
          </a:ln>
        </p:spPr>
      </p:pic>
      <p:sp>
        <p:nvSpPr>
          <p:cNvPr id="10" name="Rectangle 9">
            <a:extLst>
              <a:ext uri="{FF2B5EF4-FFF2-40B4-BE49-F238E27FC236}">
                <a16:creationId xmlns:a16="http://schemas.microsoft.com/office/drawing/2014/main" id="{6B655002-877A-B978-CD13-5EB470FEF793}"/>
              </a:ext>
            </a:extLst>
          </p:cNvPr>
          <p:cNvSpPr/>
          <p:nvPr/>
        </p:nvSpPr>
        <p:spPr>
          <a:xfrm>
            <a:off x="0" y="655295"/>
            <a:ext cx="12192000" cy="247390"/>
          </a:xfrm>
          <a:prstGeom prst="rect">
            <a:avLst/>
          </a:prstGeom>
          <a:solidFill>
            <a:srgbClr val="606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 name="Arc 5">
            <a:extLst>
              <a:ext uri="{FF2B5EF4-FFF2-40B4-BE49-F238E27FC236}">
                <a16:creationId xmlns:a16="http://schemas.microsoft.com/office/drawing/2014/main" id="{91ADE62E-A8F6-383C-FFAC-64D609F2E5CF}"/>
              </a:ext>
            </a:extLst>
          </p:cNvPr>
          <p:cNvSpPr/>
          <p:nvPr/>
        </p:nvSpPr>
        <p:spPr>
          <a:xfrm>
            <a:off x="806678" y="3851687"/>
            <a:ext cx="778597" cy="701576"/>
          </a:xfrm>
          <a:prstGeom prst="arc">
            <a:avLst>
              <a:gd name="adj1" fmla="val 10829818"/>
              <a:gd name="adj2" fmla="val 44419"/>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DE"/>
          </a:p>
        </p:txBody>
      </p:sp>
      <p:cxnSp>
        <p:nvCxnSpPr>
          <p:cNvPr id="11" name="Straight Arrow Connector 10">
            <a:extLst>
              <a:ext uri="{FF2B5EF4-FFF2-40B4-BE49-F238E27FC236}">
                <a16:creationId xmlns:a16="http://schemas.microsoft.com/office/drawing/2014/main" id="{39C495A9-7290-7CDA-303E-CAE5263E34B8}"/>
              </a:ext>
            </a:extLst>
          </p:cNvPr>
          <p:cNvCxnSpPr/>
          <p:nvPr/>
        </p:nvCxnSpPr>
        <p:spPr>
          <a:xfrm>
            <a:off x="1585275" y="4161356"/>
            <a:ext cx="0" cy="6337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3" name="Straight Arrow Connector 12">
            <a:extLst>
              <a:ext uri="{FF2B5EF4-FFF2-40B4-BE49-F238E27FC236}">
                <a16:creationId xmlns:a16="http://schemas.microsoft.com/office/drawing/2014/main" id="{067E9405-058A-BFBA-D75D-3E1DB5ACF8EA}"/>
              </a:ext>
            </a:extLst>
          </p:cNvPr>
          <p:cNvCxnSpPr/>
          <p:nvPr/>
        </p:nvCxnSpPr>
        <p:spPr>
          <a:xfrm>
            <a:off x="1159762" y="3851687"/>
            <a:ext cx="72428"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4" name="Arc 13">
            <a:extLst>
              <a:ext uri="{FF2B5EF4-FFF2-40B4-BE49-F238E27FC236}">
                <a16:creationId xmlns:a16="http://schemas.microsoft.com/office/drawing/2014/main" id="{28D93093-4946-08EC-5372-E1C3128EC55B}"/>
              </a:ext>
            </a:extLst>
          </p:cNvPr>
          <p:cNvSpPr/>
          <p:nvPr/>
        </p:nvSpPr>
        <p:spPr>
          <a:xfrm rot="10800000">
            <a:off x="806677" y="4177968"/>
            <a:ext cx="778597" cy="670047"/>
          </a:xfrm>
          <a:prstGeom prst="arc">
            <a:avLst>
              <a:gd name="adj1" fmla="val 10829818"/>
              <a:gd name="adj2" fmla="val 44419"/>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DE"/>
          </a:p>
        </p:txBody>
      </p:sp>
      <p:cxnSp>
        <p:nvCxnSpPr>
          <p:cNvPr id="15" name="Straight Arrow Connector 14">
            <a:extLst>
              <a:ext uri="{FF2B5EF4-FFF2-40B4-BE49-F238E27FC236}">
                <a16:creationId xmlns:a16="http://schemas.microsoft.com/office/drawing/2014/main" id="{B0AE1D4A-BF29-6E68-F7BF-B070923B56FB}"/>
              </a:ext>
            </a:extLst>
          </p:cNvPr>
          <p:cNvCxnSpPr>
            <a:cxnSpLocks/>
          </p:cNvCxnSpPr>
          <p:nvPr/>
        </p:nvCxnSpPr>
        <p:spPr>
          <a:xfrm rot="10800000">
            <a:off x="806677" y="4489889"/>
            <a:ext cx="0" cy="6337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 name="Straight Arrow Connector 15">
            <a:extLst>
              <a:ext uri="{FF2B5EF4-FFF2-40B4-BE49-F238E27FC236}">
                <a16:creationId xmlns:a16="http://schemas.microsoft.com/office/drawing/2014/main" id="{6C36DA6F-38F3-36AE-D179-9834818B4FE7}"/>
              </a:ext>
            </a:extLst>
          </p:cNvPr>
          <p:cNvCxnSpPr>
            <a:cxnSpLocks/>
          </p:cNvCxnSpPr>
          <p:nvPr/>
        </p:nvCxnSpPr>
        <p:spPr>
          <a:xfrm rot="10800000">
            <a:off x="1123548" y="4848015"/>
            <a:ext cx="72428"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3" name="Arrow: Down 22">
            <a:extLst>
              <a:ext uri="{FF2B5EF4-FFF2-40B4-BE49-F238E27FC236}">
                <a16:creationId xmlns:a16="http://schemas.microsoft.com/office/drawing/2014/main" id="{1A4B06FF-D6FF-6CFF-B783-37CD5CADECDB}"/>
              </a:ext>
            </a:extLst>
          </p:cNvPr>
          <p:cNvSpPr/>
          <p:nvPr/>
        </p:nvSpPr>
        <p:spPr>
          <a:xfrm rot="10800000">
            <a:off x="702563" y="4215582"/>
            <a:ext cx="208230" cy="265159"/>
          </a:xfrm>
          <a:prstGeom prst="down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DE"/>
          </a:p>
        </p:txBody>
      </p:sp>
      <p:sp>
        <p:nvSpPr>
          <p:cNvPr id="25" name="Arrow: Down 24">
            <a:extLst>
              <a:ext uri="{FF2B5EF4-FFF2-40B4-BE49-F238E27FC236}">
                <a16:creationId xmlns:a16="http://schemas.microsoft.com/office/drawing/2014/main" id="{E8F05D46-DDE7-4499-7974-2E7CD948816E}"/>
              </a:ext>
            </a:extLst>
          </p:cNvPr>
          <p:cNvSpPr/>
          <p:nvPr/>
        </p:nvSpPr>
        <p:spPr>
          <a:xfrm rot="10800000">
            <a:off x="1481156" y="4224730"/>
            <a:ext cx="208230" cy="265159"/>
          </a:xfrm>
          <a:prstGeom prst="downArrow">
            <a:avLst/>
          </a:prstGeom>
          <a:solidFill>
            <a:schemeClr val="accent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DE"/>
          </a:p>
        </p:txBody>
      </p:sp>
      <p:sp>
        <p:nvSpPr>
          <p:cNvPr id="26" name="Arc 25">
            <a:extLst>
              <a:ext uri="{FF2B5EF4-FFF2-40B4-BE49-F238E27FC236}">
                <a16:creationId xmlns:a16="http://schemas.microsoft.com/office/drawing/2014/main" id="{DF275FAD-5A63-EECE-9C24-233CD88BF06C}"/>
              </a:ext>
            </a:extLst>
          </p:cNvPr>
          <p:cNvSpPr/>
          <p:nvPr/>
        </p:nvSpPr>
        <p:spPr>
          <a:xfrm>
            <a:off x="2194874" y="3836049"/>
            <a:ext cx="778597" cy="701576"/>
          </a:xfrm>
          <a:prstGeom prst="arc">
            <a:avLst>
              <a:gd name="adj1" fmla="val 10829818"/>
              <a:gd name="adj2" fmla="val 44419"/>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DE"/>
          </a:p>
        </p:txBody>
      </p:sp>
      <p:cxnSp>
        <p:nvCxnSpPr>
          <p:cNvPr id="27" name="Straight Arrow Connector 26">
            <a:extLst>
              <a:ext uri="{FF2B5EF4-FFF2-40B4-BE49-F238E27FC236}">
                <a16:creationId xmlns:a16="http://schemas.microsoft.com/office/drawing/2014/main" id="{296C6110-A890-7E98-8A7A-C8D4E6FD0870}"/>
              </a:ext>
            </a:extLst>
          </p:cNvPr>
          <p:cNvCxnSpPr/>
          <p:nvPr/>
        </p:nvCxnSpPr>
        <p:spPr>
          <a:xfrm>
            <a:off x="2973471" y="4145718"/>
            <a:ext cx="0" cy="6337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8" name="Straight Arrow Connector 27">
            <a:extLst>
              <a:ext uri="{FF2B5EF4-FFF2-40B4-BE49-F238E27FC236}">
                <a16:creationId xmlns:a16="http://schemas.microsoft.com/office/drawing/2014/main" id="{4A217E3B-3E48-B9BE-80A8-2B7CB952D7FC}"/>
              </a:ext>
            </a:extLst>
          </p:cNvPr>
          <p:cNvCxnSpPr/>
          <p:nvPr/>
        </p:nvCxnSpPr>
        <p:spPr>
          <a:xfrm>
            <a:off x="2547958" y="3836049"/>
            <a:ext cx="72428"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9" name="Arc 28">
            <a:extLst>
              <a:ext uri="{FF2B5EF4-FFF2-40B4-BE49-F238E27FC236}">
                <a16:creationId xmlns:a16="http://schemas.microsoft.com/office/drawing/2014/main" id="{FBC1783F-AF53-C864-32BA-1771371C51D8}"/>
              </a:ext>
            </a:extLst>
          </p:cNvPr>
          <p:cNvSpPr/>
          <p:nvPr/>
        </p:nvSpPr>
        <p:spPr>
          <a:xfrm rot="10800000">
            <a:off x="2194873" y="4170914"/>
            <a:ext cx="778597" cy="670047"/>
          </a:xfrm>
          <a:prstGeom prst="arc">
            <a:avLst>
              <a:gd name="adj1" fmla="val 10829818"/>
              <a:gd name="adj2" fmla="val 44419"/>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DE"/>
          </a:p>
        </p:txBody>
      </p:sp>
      <p:cxnSp>
        <p:nvCxnSpPr>
          <p:cNvPr id="30" name="Straight Arrow Connector 29">
            <a:extLst>
              <a:ext uri="{FF2B5EF4-FFF2-40B4-BE49-F238E27FC236}">
                <a16:creationId xmlns:a16="http://schemas.microsoft.com/office/drawing/2014/main" id="{165D63F1-6C16-326F-4007-AE59807D805F}"/>
              </a:ext>
            </a:extLst>
          </p:cNvPr>
          <p:cNvCxnSpPr>
            <a:cxnSpLocks/>
          </p:cNvCxnSpPr>
          <p:nvPr/>
        </p:nvCxnSpPr>
        <p:spPr>
          <a:xfrm rot="10800000">
            <a:off x="2194873" y="4474251"/>
            <a:ext cx="0" cy="6337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1" name="Straight Arrow Connector 30">
            <a:extLst>
              <a:ext uri="{FF2B5EF4-FFF2-40B4-BE49-F238E27FC236}">
                <a16:creationId xmlns:a16="http://schemas.microsoft.com/office/drawing/2014/main" id="{90FC97E4-E356-95A9-7EEC-6E475F93220A}"/>
              </a:ext>
            </a:extLst>
          </p:cNvPr>
          <p:cNvCxnSpPr>
            <a:cxnSpLocks/>
          </p:cNvCxnSpPr>
          <p:nvPr/>
        </p:nvCxnSpPr>
        <p:spPr>
          <a:xfrm rot="10800000">
            <a:off x="2541919" y="4840550"/>
            <a:ext cx="72428"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2" name="Arrow: Down 31">
            <a:extLst>
              <a:ext uri="{FF2B5EF4-FFF2-40B4-BE49-F238E27FC236}">
                <a16:creationId xmlns:a16="http://schemas.microsoft.com/office/drawing/2014/main" id="{335B3E5F-6119-BD15-FB43-0B41BA50FF56}"/>
              </a:ext>
            </a:extLst>
          </p:cNvPr>
          <p:cNvSpPr/>
          <p:nvPr/>
        </p:nvSpPr>
        <p:spPr>
          <a:xfrm rot="10800000">
            <a:off x="2090759" y="4199944"/>
            <a:ext cx="208230" cy="265159"/>
          </a:xfrm>
          <a:prstGeom prst="down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DE"/>
          </a:p>
        </p:txBody>
      </p:sp>
      <p:sp>
        <p:nvSpPr>
          <p:cNvPr id="35" name="Arrow: Down 34">
            <a:extLst>
              <a:ext uri="{FF2B5EF4-FFF2-40B4-BE49-F238E27FC236}">
                <a16:creationId xmlns:a16="http://schemas.microsoft.com/office/drawing/2014/main" id="{A08345E8-83D1-3724-BCB6-65CAB64D2F6F}"/>
              </a:ext>
            </a:extLst>
          </p:cNvPr>
          <p:cNvSpPr/>
          <p:nvPr/>
        </p:nvSpPr>
        <p:spPr>
          <a:xfrm>
            <a:off x="2869352" y="4209092"/>
            <a:ext cx="208230" cy="265159"/>
          </a:xfrm>
          <a:prstGeom prst="down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DE"/>
          </a:p>
        </p:txBody>
      </p:sp>
      <p:pic>
        <p:nvPicPr>
          <p:cNvPr id="69" name="Picture 68">
            <a:extLst>
              <a:ext uri="{FF2B5EF4-FFF2-40B4-BE49-F238E27FC236}">
                <a16:creationId xmlns:a16="http://schemas.microsoft.com/office/drawing/2014/main" id="{22793085-C149-6B92-0C4C-1CEB58E6D4EA}"/>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a:off x="4124329" y="2108925"/>
            <a:ext cx="2410559" cy="365110"/>
          </a:xfrm>
          <a:prstGeom prst="rect">
            <a:avLst/>
          </a:prstGeom>
        </p:spPr>
      </p:pic>
      <p:pic>
        <p:nvPicPr>
          <p:cNvPr id="71" name="Picture 70">
            <a:extLst>
              <a:ext uri="{FF2B5EF4-FFF2-40B4-BE49-F238E27FC236}">
                <a16:creationId xmlns:a16="http://schemas.microsoft.com/office/drawing/2014/main" id="{41386725-A959-2236-BE8B-41A62285E94E}"/>
              </a:ext>
            </a:extLst>
          </p:cNvPr>
          <p:cNvPicPr>
            <a:picLocks noChangeAspect="1"/>
          </p:cNvPicPr>
          <p:nvPr/>
        </p:nvPicPr>
        <p:blipFill>
          <a:blip r:embed="rId5">
            <a:alphaModFix amt="50000"/>
            <a:extLst>
              <a:ext uri="{28A0092B-C50C-407E-A947-70E740481C1C}">
                <a14:useLocalDpi xmlns:a14="http://schemas.microsoft.com/office/drawing/2010/main" val="0"/>
              </a:ext>
            </a:extLst>
          </a:blip>
          <a:stretch>
            <a:fillRect/>
          </a:stretch>
        </p:blipFill>
        <p:spPr>
          <a:xfrm>
            <a:off x="3743636" y="1579524"/>
            <a:ext cx="2180349" cy="408815"/>
          </a:xfrm>
          <a:prstGeom prst="rect">
            <a:avLst/>
          </a:prstGeom>
        </p:spPr>
      </p:pic>
      <p:pic>
        <p:nvPicPr>
          <p:cNvPr id="7" name="Picture 6">
            <a:extLst>
              <a:ext uri="{FF2B5EF4-FFF2-40B4-BE49-F238E27FC236}">
                <a16:creationId xmlns:a16="http://schemas.microsoft.com/office/drawing/2014/main" id="{A8224FC4-95D0-BA48-8FF2-E64CD47BD0BA}"/>
              </a:ext>
            </a:extLst>
          </p:cNvPr>
          <p:cNvPicPr>
            <a:picLocks noChangeAspect="1"/>
          </p:cNvPicPr>
          <p:nvPr/>
        </p:nvPicPr>
        <p:blipFill>
          <a:blip r:embed="rId6"/>
          <a:stretch>
            <a:fillRect/>
          </a:stretch>
        </p:blipFill>
        <p:spPr>
          <a:xfrm>
            <a:off x="5211777" y="3099356"/>
            <a:ext cx="3047840" cy="2720799"/>
          </a:xfrm>
          <a:prstGeom prst="rect">
            <a:avLst/>
          </a:prstGeom>
        </p:spPr>
      </p:pic>
      <p:sp>
        <p:nvSpPr>
          <p:cNvPr id="9" name="TextBox 8">
            <a:extLst>
              <a:ext uri="{FF2B5EF4-FFF2-40B4-BE49-F238E27FC236}">
                <a16:creationId xmlns:a16="http://schemas.microsoft.com/office/drawing/2014/main" id="{FE850AAA-9B24-0D3C-C3BC-B9E984BD9FDA}"/>
              </a:ext>
            </a:extLst>
          </p:cNvPr>
          <p:cNvSpPr txBox="1"/>
          <p:nvPr/>
        </p:nvSpPr>
        <p:spPr>
          <a:xfrm>
            <a:off x="8125806" y="4781314"/>
            <a:ext cx="3404857" cy="646331"/>
          </a:xfrm>
          <a:prstGeom prst="rect">
            <a:avLst/>
          </a:prstGeom>
          <a:noFill/>
        </p:spPr>
        <p:txBody>
          <a:bodyPr wrap="square">
            <a:spAutoFit/>
          </a:bodyPr>
          <a:lstStyle/>
          <a:p>
            <a:r>
              <a:rPr lang="en-DE" sz="900" dirty="0"/>
              <a:t>Deniz </a:t>
            </a:r>
            <a:r>
              <a:rPr lang="en-DE" sz="900" dirty="0" err="1"/>
              <a:t>Mostara</a:t>
            </a:r>
            <a:r>
              <a:rPr lang="en-GB" sz="900" dirty="0"/>
              <a:t>c et al</a:t>
            </a:r>
            <a:r>
              <a:rPr lang="en-DE" sz="900" dirty="0"/>
              <a:t>. Thermal Stoner–Wohlfarth model for </a:t>
            </a:r>
            <a:r>
              <a:rPr lang="en-DE" sz="900" dirty="0" err="1"/>
              <a:t>magnetodynamics</a:t>
            </a:r>
            <a:r>
              <a:rPr lang="en-DE" sz="900" dirty="0"/>
              <a:t> of single domain nanoparticles: implementation and validation. </a:t>
            </a:r>
            <a:r>
              <a:rPr lang="en-DE" sz="900" i="1" dirty="0"/>
              <a:t>Physical Review B</a:t>
            </a:r>
            <a:r>
              <a:rPr lang="en-DE" sz="900" dirty="0"/>
              <a:t>, 111(1):014438, January 2025. </a:t>
            </a:r>
            <a:r>
              <a:rPr lang="en-DE" sz="900" dirty="0">
                <a:hlinkClick r:id="rId7"/>
              </a:rPr>
              <a:t>doi:10.1103/PhysRevB.111.014438</a:t>
            </a:r>
            <a:r>
              <a:rPr lang="en-DE" sz="900" dirty="0"/>
              <a:t>.</a:t>
            </a:r>
          </a:p>
        </p:txBody>
      </p:sp>
    </p:spTree>
    <p:extLst>
      <p:ext uri="{BB962C8B-B14F-4D97-AF65-F5344CB8AC3E}">
        <p14:creationId xmlns:p14="http://schemas.microsoft.com/office/powerpoint/2010/main" val="516391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039A4-1C3B-4F79-A246-A1C78B7F2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D6B84F-F13B-A2F6-71C7-52D007DC37F8}"/>
              </a:ext>
            </a:extLst>
          </p:cNvPr>
          <p:cNvSpPr>
            <a:spLocks noGrp="1"/>
          </p:cNvSpPr>
          <p:nvPr>
            <p:ph type="title"/>
          </p:nvPr>
        </p:nvSpPr>
        <p:spPr>
          <a:xfrm>
            <a:off x="168245" y="-327655"/>
            <a:ext cx="10515600" cy="1325563"/>
          </a:xfrm>
        </p:spPr>
        <p:txBody>
          <a:bodyPr>
            <a:normAutofit/>
          </a:bodyPr>
          <a:lstStyle/>
          <a:p>
            <a:r>
              <a:rPr lang="en-GB" sz="3600" dirty="0">
                <a:solidFill>
                  <a:srgbClr val="045BA7"/>
                </a:solidFill>
                <a:latin typeface="Arial Rounded MT Bold" panose="020F0704030504030204" pitchFamily="34" charset="0"/>
                <a:cs typeface="Segoe UI" panose="020B0502040204020203" pitchFamily="34" charset="0"/>
              </a:rPr>
              <a:t>Simulation Setup</a:t>
            </a:r>
            <a:endParaRPr lang="en-DE" sz="3600" dirty="0">
              <a:solidFill>
                <a:srgbClr val="045BA7"/>
              </a:solidFill>
              <a:latin typeface="Arial Rounded MT Bold" panose="020F0704030504030204" pitchFamily="34" charset="0"/>
              <a:cs typeface="Segoe UI" panose="020B0502040204020203" pitchFamily="34" charset="0"/>
            </a:endParaRPr>
          </a:p>
        </p:txBody>
      </p:sp>
      <p:pic>
        <p:nvPicPr>
          <p:cNvPr id="5" name="Picture 4">
            <a:extLst>
              <a:ext uri="{FF2B5EF4-FFF2-40B4-BE49-F238E27FC236}">
                <a16:creationId xmlns:a16="http://schemas.microsoft.com/office/drawing/2014/main" id="{43CFF7CD-3935-0D67-5809-EF1FE7D9634C}"/>
              </a:ext>
            </a:extLst>
          </p:cNvPr>
          <p:cNvPicPr>
            <a:picLocks noChangeAspect="1"/>
          </p:cNvPicPr>
          <p:nvPr/>
        </p:nvPicPr>
        <p:blipFill>
          <a:blip r:embed="rId3"/>
          <a:stretch>
            <a:fillRect/>
          </a:stretch>
        </p:blipFill>
        <p:spPr>
          <a:xfrm>
            <a:off x="8125806" y="5696437"/>
            <a:ext cx="3971925" cy="1086142"/>
          </a:xfrm>
          <a:prstGeom prst="rect">
            <a:avLst/>
          </a:prstGeom>
          <a:noFill/>
          <a:ln cap="flat">
            <a:noFill/>
          </a:ln>
        </p:spPr>
      </p:pic>
      <p:sp>
        <p:nvSpPr>
          <p:cNvPr id="10" name="Rectangle 9">
            <a:extLst>
              <a:ext uri="{FF2B5EF4-FFF2-40B4-BE49-F238E27FC236}">
                <a16:creationId xmlns:a16="http://schemas.microsoft.com/office/drawing/2014/main" id="{7558DB1D-AF97-C3DD-F21E-CB3C45B45A5A}"/>
              </a:ext>
            </a:extLst>
          </p:cNvPr>
          <p:cNvSpPr/>
          <p:nvPr/>
        </p:nvSpPr>
        <p:spPr>
          <a:xfrm>
            <a:off x="0" y="655295"/>
            <a:ext cx="12192000" cy="247390"/>
          </a:xfrm>
          <a:prstGeom prst="rect">
            <a:avLst/>
          </a:prstGeom>
          <a:solidFill>
            <a:srgbClr val="606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7" name="Picture 6">
            <a:extLst>
              <a:ext uri="{FF2B5EF4-FFF2-40B4-BE49-F238E27FC236}">
                <a16:creationId xmlns:a16="http://schemas.microsoft.com/office/drawing/2014/main" id="{C31739E6-FDE2-9599-EAC7-4200F1BB0CD7}"/>
              </a:ext>
            </a:extLst>
          </p:cNvPr>
          <p:cNvPicPr>
            <a:picLocks noChangeAspect="1"/>
          </p:cNvPicPr>
          <p:nvPr/>
        </p:nvPicPr>
        <p:blipFill>
          <a:blip r:embed="rId4"/>
          <a:stretch>
            <a:fillRect/>
          </a:stretch>
        </p:blipFill>
        <p:spPr>
          <a:xfrm>
            <a:off x="1329950" y="1078745"/>
            <a:ext cx="9532100" cy="4522469"/>
          </a:xfrm>
          <a:prstGeom prst="rect">
            <a:avLst/>
          </a:prstGeom>
        </p:spPr>
      </p:pic>
    </p:spTree>
    <p:extLst>
      <p:ext uri="{BB962C8B-B14F-4D97-AF65-F5344CB8AC3E}">
        <p14:creationId xmlns:p14="http://schemas.microsoft.com/office/powerpoint/2010/main" val="4124285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59D95-7B35-ED85-E35C-838C9A5A33B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A00E8C2-1833-2532-83B5-C0CC55D4FF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9914" y="1044000"/>
            <a:ext cx="6144781" cy="4608585"/>
          </a:xfrm>
          <a:prstGeom prst="rect">
            <a:avLst/>
          </a:prstGeom>
        </p:spPr>
      </p:pic>
      <p:sp>
        <p:nvSpPr>
          <p:cNvPr id="2" name="Title 1">
            <a:extLst>
              <a:ext uri="{FF2B5EF4-FFF2-40B4-BE49-F238E27FC236}">
                <a16:creationId xmlns:a16="http://schemas.microsoft.com/office/drawing/2014/main" id="{2F9D42C3-44CE-6D85-F3F4-B725485DB76F}"/>
              </a:ext>
            </a:extLst>
          </p:cNvPr>
          <p:cNvSpPr>
            <a:spLocks noGrp="1"/>
          </p:cNvSpPr>
          <p:nvPr>
            <p:ph type="title"/>
          </p:nvPr>
        </p:nvSpPr>
        <p:spPr>
          <a:xfrm>
            <a:off x="168245" y="-327655"/>
            <a:ext cx="10515600" cy="1325563"/>
          </a:xfrm>
        </p:spPr>
        <p:txBody>
          <a:bodyPr>
            <a:normAutofit/>
          </a:bodyPr>
          <a:lstStyle/>
          <a:p>
            <a:r>
              <a:rPr lang="en-GB" sz="3600" dirty="0">
                <a:solidFill>
                  <a:srgbClr val="045BA7"/>
                </a:solidFill>
                <a:latin typeface="Arial Rounded MT Bold" panose="020F0704030504030204" pitchFamily="34" charset="0"/>
                <a:cs typeface="Segoe UI" panose="020B0502040204020203" pitchFamily="34" charset="0"/>
              </a:rPr>
              <a:t>Magnetic response</a:t>
            </a:r>
            <a:endParaRPr lang="en-DE" sz="3600" dirty="0">
              <a:solidFill>
                <a:srgbClr val="045BA7"/>
              </a:solidFill>
              <a:latin typeface="Arial Rounded MT Bold" panose="020F0704030504030204" pitchFamily="34" charset="0"/>
              <a:cs typeface="Segoe UI" panose="020B0502040204020203" pitchFamily="34" charset="0"/>
            </a:endParaRPr>
          </a:p>
        </p:txBody>
      </p:sp>
      <p:pic>
        <p:nvPicPr>
          <p:cNvPr id="5" name="Picture 4">
            <a:extLst>
              <a:ext uri="{FF2B5EF4-FFF2-40B4-BE49-F238E27FC236}">
                <a16:creationId xmlns:a16="http://schemas.microsoft.com/office/drawing/2014/main" id="{03CAA6A0-394A-5028-E936-23F04E04A3BC}"/>
              </a:ext>
            </a:extLst>
          </p:cNvPr>
          <p:cNvPicPr>
            <a:picLocks noChangeAspect="1"/>
          </p:cNvPicPr>
          <p:nvPr/>
        </p:nvPicPr>
        <p:blipFill>
          <a:blip r:embed="rId4"/>
          <a:stretch>
            <a:fillRect/>
          </a:stretch>
        </p:blipFill>
        <p:spPr>
          <a:xfrm>
            <a:off x="8125806" y="5696437"/>
            <a:ext cx="3971925" cy="1086142"/>
          </a:xfrm>
          <a:prstGeom prst="rect">
            <a:avLst/>
          </a:prstGeom>
          <a:noFill/>
          <a:ln cap="flat">
            <a:noFill/>
          </a:ln>
        </p:spPr>
      </p:pic>
      <p:sp>
        <p:nvSpPr>
          <p:cNvPr id="10" name="Rectangle 9">
            <a:extLst>
              <a:ext uri="{FF2B5EF4-FFF2-40B4-BE49-F238E27FC236}">
                <a16:creationId xmlns:a16="http://schemas.microsoft.com/office/drawing/2014/main" id="{FB29AB56-505F-BD40-F69C-FB237322AFD6}"/>
              </a:ext>
            </a:extLst>
          </p:cNvPr>
          <p:cNvSpPr/>
          <p:nvPr/>
        </p:nvSpPr>
        <p:spPr>
          <a:xfrm>
            <a:off x="0" y="655295"/>
            <a:ext cx="12192000" cy="247390"/>
          </a:xfrm>
          <a:prstGeom prst="rect">
            <a:avLst/>
          </a:prstGeom>
          <a:solidFill>
            <a:srgbClr val="606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8" name="Picture 7">
            <a:extLst>
              <a:ext uri="{FF2B5EF4-FFF2-40B4-BE49-F238E27FC236}">
                <a16:creationId xmlns:a16="http://schemas.microsoft.com/office/drawing/2014/main" id="{96A87706-B908-AF7F-A721-36C6CFF478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21276" y="2763875"/>
            <a:ext cx="1525136" cy="752888"/>
          </a:xfrm>
          <a:prstGeom prst="rect">
            <a:avLst/>
          </a:prstGeom>
        </p:spPr>
      </p:pic>
      <p:sp>
        <p:nvSpPr>
          <p:cNvPr id="9" name="TextBox 8">
            <a:extLst>
              <a:ext uri="{FF2B5EF4-FFF2-40B4-BE49-F238E27FC236}">
                <a16:creationId xmlns:a16="http://schemas.microsoft.com/office/drawing/2014/main" id="{7A77B4D0-281D-EF46-B42D-E6BC3A00F66E}"/>
              </a:ext>
            </a:extLst>
          </p:cNvPr>
          <p:cNvSpPr txBox="1"/>
          <p:nvPr/>
        </p:nvSpPr>
        <p:spPr>
          <a:xfrm>
            <a:off x="9774207" y="1083348"/>
            <a:ext cx="1819275" cy="646331"/>
          </a:xfrm>
          <a:prstGeom prst="rect">
            <a:avLst/>
          </a:prstGeom>
          <a:noFill/>
        </p:spPr>
        <p:txBody>
          <a:bodyPr wrap="square" rtlCol="0">
            <a:spAutoFit/>
          </a:bodyPr>
          <a:lstStyle/>
          <a:p>
            <a:r>
              <a:rPr lang="en-GB" dirty="0"/>
              <a:t>r: Semiaxes ratio of ellipsoid</a:t>
            </a:r>
            <a:endParaRPr lang="en-DE" dirty="0"/>
          </a:p>
        </p:txBody>
      </p:sp>
      <p:sp>
        <p:nvSpPr>
          <p:cNvPr id="11" name="Oval 10">
            <a:extLst>
              <a:ext uri="{FF2B5EF4-FFF2-40B4-BE49-F238E27FC236}">
                <a16:creationId xmlns:a16="http://schemas.microsoft.com/office/drawing/2014/main" id="{31E7C213-E74E-6DBE-268B-ED9DC07F5E2D}"/>
              </a:ext>
            </a:extLst>
          </p:cNvPr>
          <p:cNvSpPr/>
          <p:nvPr/>
        </p:nvSpPr>
        <p:spPr>
          <a:xfrm>
            <a:off x="10312360" y="1940881"/>
            <a:ext cx="965807" cy="381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13" name="Straight Connector 12">
            <a:extLst>
              <a:ext uri="{FF2B5EF4-FFF2-40B4-BE49-F238E27FC236}">
                <a16:creationId xmlns:a16="http://schemas.microsoft.com/office/drawing/2014/main" id="{C1BDF4B9-4DE4-5BEF-6BE9-036D27B8C25D}"/>
              </a:ext>
            </a:extLst>
          </p:cNvPr>
          <p:cNvCxnSpPr>
            <a:stCxn id="11" idx="2"/>
            <a:endCxn id="11" idx="6"/>
          </p:cNvCxnSpPr>
          <p:nvPr/>
        </p:nvCxnSpPr>
        <p:spPr>
          <a:xfrm>
            <a:off x="10312360" y="2131381"/>
            <a:ext cx="965807"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5" name="Straight Connector 14">
            <a:extLst>
              <a:ext uri="{FF2B5EF4-FFF2-40B4-BE49-F238E27FC236}">
                <a16:creationId xmlns:a16="http://schemas.microsoft.com/office/drawing/2014/main" id="{2DDB32E3-7F79-89F3-0F8E-35A5D4383954}"/>
              </a:ext>
            </a:extLst>
          </p:cNvPr>
          <p:cNvCxnSpPr>
            <a:stCxn id="11" idx="0"/>
            <a:endCxn id="11" idx="4"/>
          </p:cNvCxnSpPr>
          <p:nvPr/>
        </p:nvCxnSpPr>
        <p:spPr>
          <a:xfrm>
            <a:off x="10795264" y="1940881"/>
            <a:ext cx="0" cy="381000"/>
          </a:xfrm>
          <a:prstGeom prst="line">
            <a:avLst/>
          </a:prstGeom>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7D466103-653D-4E60-F78A-B9F0B02252B5}"/>
              </a:ext>
            </a:extLst>
          </p:cNvPr>
          <p:cNvSpPr txBox="1"/>
          <p:nvPr/>
        </p:nvSpPr>
        <p:spPr>
          <a:xfrm>
            <a:off x="11096230" y="1683139"/>
            <a:ext cx="497252" cy="369332"/>
          </a:xfrm>
          <a:prstGeom prst="rect">
            <a:avLst/>
          </a:prstGeom>
          <a:noFill/>
        </p:spPr>
        <p:txBody>
          <a:bodyPr wrap="none" rtlCol="0">
            <a:spAutoFit/>
          </a:bodyPr>
          <a:lstStyle/>
          <a:p>
            <a:r>
              <a:rPr lang="en-GB" dirty="0">
                <a:solidFill>
                  <a:schemeClr val="accent2"/>
                </a:solidFill>
              </a:rPr>
              <a:t>a</a:t>
            </a:r>
            <a:r>
              <a:rPr lang="en-GB" dirty="0"/>
              <a:t>:</a:t>
            </a:r>
            <a:r>
              <a:rPr lang="en-GB" dirty="0">
                <a:solidFill>
                  <a:schemeClr val="accent1"/>
                </a:solidFill>
              </a:rPr>
              <a:t>1</a:t>
            </a:r>
            <a:endParaRPr lang="en-DE" dirty="0">
              <a:solidFill>
                <a:schemeClr val="accent2"/>
              </a:solidFill>
            </a:endParaRPr>
          </a:p>
        </p:txBody>
      </p:sp>
      <p:sp>
        <p:nvSpPr>
          <p:cNvPr id="17" name="TextBox 16">
            <a:extLst>
              <a:ext uri="{FF2B5EF4-FFF2-40B4-BE49-F238E27FC236}">
                <a16:creationId xmlns:a16="http://schemas.microsoft.com/office/drawing/2014/main" id="{83B19479-8018-4C12-E836-57787DBFC212}"/>
              </a:ext>
            </a:extLst>
          </p:cNvPr>
          <p:cNvSpPr txBox="1"/>
          <p:nvPr/>
        </p:nvSpPr>
        <p:spPr>
          <a:xfrm>
            <a:off x="9774208" y="3853779"/>
            <a:ext cx="2351684" cy="369332"/>
          </a:xfrm>
          <a:prstGeom prst="rect">
            <a:avLst/>
          </a:prstGeom>
          <a:noFill/>
        </p:spPr>
        <p:txBody>
          <a:bodyPr wrap="square" rtlCol="0">
            <a:spAutoFit/>
          </a:bodyPr>
          <a:lstStyle/>
          <a:p>
            <a:r>
              <a:rPr lang="en-GB" dirty="0"/>
              <a:t>KV: anisotropy Energy</a:t>
            </a:r>
            <a:endParaRPr lang="en-DE" dirty="0"/>
          </a:p>
        </p:txBody>
      </p:sp>
    </p:spTree>
    <p:extLst>
      <p:ext uri="{BB962C8B-B14F-4D97-AF65-F5344CB8AC3E}">
        <p14:creationId xmlns:p14="http://schemas.microsoft.com/office/powerpoint/2010/main" val="2282686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98F7E-96D8-D062-08F0-62DB7FA26B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37F3AD-A975-F6FC-C75A-3772EAE2EF0B}"/>
              </a:ext>
            </a:extLst>
          </p:cNvPr>
          <p:cNvSpPr>
            <a:spLocks noGrp="1"/>
          </p:cNvSpPr>
          <p:nvPr>
            <p:ph type="title"/>
          </p:nvPr>
        </p:nvSpPr>
        <p:spPr>
          <a:xfrm>
            <a:off x="168245" y="-327655"/>
            <a:ext cx="10515600" cy="1325563"/>
          </a:xfrm>
        </p:spPr>
        <p:txBody>
          <a:bodyPr>
            <a:normAutofit/>
          </a:bodyPr>
          <a:lstStyle/>
          <a:p>
            <a:r>
              <a:rPr lang="en-GB" sz="3600" dirty="0">
                <a:solidFill>
                  <a:srgbClr val="045BA7"/>
                </a:solidFill>
                <a:latin typeface="Arial Rounded MT Bold" panose="020F0704030504030204" pitchFamily="34" charset="0"/>
                <a:cs typeface="Segoe UI" panose="020B0502040204020203" pitchFamily="34" charset="0"/>
              </a:rPr>
              <a:t>Magnetic response</a:t>
            </a:r>
            <a:endParaRPr lang="en-DE" sz="3600" dirty="0">
              <a:solidFill>
                <a:srgbClr val="045BA7"/>
              </a:solidFill>
              <a:latin typeface="Arial Rounded MT Bold" panose="020F0704030504030204" pitchFamily="34" charset="0"/>
              <a:cs typeface="Segoe UI" panose="020B0502040204020203" pitchFamily="34" charset="0"/>
            </a:endParaRPr>
          </a:p>
        </p:txBody>
      </p:sp>
      <p:pic>
        <p:nvPicPr>
          <p:cNvPr id="5" name="Picture 4">
            <a:extLst>
              <a:ext uri="{FF2B5EF4-FFF2-40B4-BE49-F238E27FC236}">
                <a16:creationId xmlns:a16="http://schemas.microsoft.com/office/drawing/2014/main" id="{E2FA7E68-0AF4-502E-1A92-E5D964038485}"/>
              </a:ext>
            </a:extLst>
          </p:cNvPr>
          <p:cNvPicPr>
            <a:picLocks noChangeAspect="1"/>
          </p:cNvPicPr>
          <p:nvPr/>
        </p:nvPicPr>
        <p:blipFill>
          <a:blip r:embed="rId3"/>
          <a:stretch>
            <a:fillRect/>
          </a:stretch>
        </p:blipFill>
        <p:spPr>
          <a:xfrm>
            <a:off x="8125806" y="5696437"/>
            <a:ext cx="3971925" cy="1086142"/>
          </a:xfrm>
          <a:prstGeom prst="rect">
            <a:avLst/>
          </a:prstGeom>
          <a:noFill/>
          <a:ln cap="flat">
            <a:noFill/>
          </a:ln>
        </p:spPr>
      </p:pic>
      <p:sp>
        <p:nvSpPr>
          <p:cNvPr id="10" name="Rectangle 9">
            <a:extLst>
              <a:ext uri="{FF2B5EF4-FFF2-40B4-BE49-F238E27FC236}">
                <a16:creationId xmlns:a16="http://schemas.microsoft.com/office/drawing/2014/main" id="{8E7CC688-8A91-C5B0-BA79-93A0318120F8}"/>
              </a:ext>
            </a:extLst>
          </p:cNvPr>
          <p:cNvSpPr/>
          <p:nvPr/>
        </p:nvSpPr>
        <p:spPr>
          <a:xfrm>
            <a:off x="0" y="655295"/>
            <a:ext cx="12192000" cy="247390"/>
          </a:xfrm>
          <a:prstGeom prst="rect">
            <a:avLst/>
          </a:prstGeom>
          <a:solidFill>
            <a:srgbClr val="606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7" name="Picture 6">
            <a:extLst>
              <a:ext uri="{FF2B5EF4-FFF2-40B4-BE49-F238E27FC236}">
                <a16:creationId xmlns:a16="http://schemas.microsoft.com/office/drawing/2014/main" id="{6872CC9B-57A6-62E3-444C-896DC778F8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69914" y="1044000"/>
            <a:ext cx="6144781" cy="4608585"/>
          </a:xfrm>
          <a:prstGeom prst="rect">
            <a:avLst/>
          </a:prstGeom>
        </p:spPr>
      </p:pic>
      <p:pic>
        <p:nvPicPr>
          <p:cNvPr id="9" name="Picture 8">
            <a:extLst>
              <a:ext uri="{FF2B5EF4-FFF2-40B4-BE49-F238E27FC236}">
                <a16:creationId xmlns:a16="http://schemas.microsoft.com/office/drawing/2014/main" id="{D007F9EA-55F0-005E-F62E-DB5B2D74E3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21276" y="2763875"/>
            <a:ext cx="1525136" cy="752888"/>
          </a:xfrm>
          <a:prstGeom prst="rect">
            <a:avLst/>
          </a:prstGeom>
        </p:spPr>
      </p:pic>
      <p:sp>
        <p:nvSpPr>
          <p:cNvPr id="11" name="TextBox 10">
            <a:extLst>
              <a:ext uri="{FF2B5EF4-FFF2-40B4-BE49-F238E27FC236}">
                <a16:creationId xmlns:a16="http://schemas.microsoft.com/office/drawing/2014/main" id="{9A9C292D-F540-13C9-A1E4-D07F7854936B}"/>
              </a:ext>
            </a:extLst>
          </p:cNvPr>
          <p:cNvSpPr txBox="1"/>
          <p:nvPr/>
        </p:nvSpPr>
        <p:spPr>
          <a:xfrm>
            <a:off x="9774207" y="1083348"/>
            <a:ext cx="1819275" cy="646331"/>
          </a:xfrm>
          <a:prstGeom prst="rect">
            <a:avLst/>
          </a:prstGeom>
          <a:noFill/>
        </p:spPr>
        <p:txBody>
          <a:bodyPr wrap="square" rtlCol="0">
            <a:spAutoFit/>
          </a:bodyPr>
          <a:lstStyle/>
          <a:p>
            <a:r>
              <a:rPr lang="en-GB" dirty="0"/>
              <a:t>r: Semiaxes ratio of ellipsoid</a:t>
            </a:r>
            <a:endParaRPr lang="en-DE" dirty="0"/>
          </a:p>
        </p:txBody>
      </p:sp>
      <p:sp>
        <p:nvSpPr>
          <p:cNvPr id="12" name="Oval 11">
            <a:extLst>
              <a:ext uri="{FF2B5EF4-FFF2-40B4-BE49-F238E27FC236}">
                <a16:creationId xmlns:a16="http://schemas.microsoft.com/office/drawing/2014/main" id="{602A83EE-FC9B-398F-2958-D516322ED9D3}"/>
              </a:ext>
            </a:extLst>
          </p:cNvPr>
          <p:cNvSpPr/>
          <p:nvPr/>
        </p:nvSpPr>
        <p:spPr>
          <a:xfrm>
            <a:off x="10312360" y="1940881"/>
            <a:ext cx="965807" cy="381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13" name="Straight Connector 12">
            <a:extLst>
              <a:ext uri="{FF2B5EF4-FFF2-40B4-BE49-F238E27FC236}">
                <a16:creationId xmlns:a16="http://schemas.microsoft.com/office/drawing/2014/main" id="{FC2FFBB0-6C47-BD5D-1D15-A4459EFD80D0}"/>
              </a:ext>
            </a:extLst>
          </p:cNvPr>
          <p:cNvCxnSpPr>
            <a:stCxn id="12" idx="2"/>
            <a:endCxn id="12" idx="6"/>
          </p:cNvCxnSpPr>
          <p:nvPr/>
        </p:nvCxnSpPr>
        <p:spPr>
          <a:xfrm>
            <a:off x="10312360" y="2131381"/>
            <a:ext cx="965807"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4" name="Straight Connector 13">
            <a:extLst>
              <a:ext uri="{FF2B5EF4-FFF2-40B4-BE49-F238E27FC236}">
                <a16:creationId xmlns:a16="http://schemas.microsoft.com/office/drawing/2014/main" id="{28A37083-2310-D1EF-2DC1-98D34DBDEBA1}"/>
              </a:ext>
            </a:extLst>
          </p:cNvPr>
          <p:cNvCxnSpPr>
            <a:stCxn id="12" idx="0"/>
            <a:endCxn id="12" idx="4"/>
          </p:cNvCxnSpPr>
          <p:nvPr/>
        </p:nvCxnSpPr>
        <p:spPr>
          <a:xfrm>
            <a:off x="10795264" y="1940881"/>
            <a:ext cx="0" cy="381000"/>
          </a:xfrm>
          <a:prstGeom prst="line">
            <a:avLst/>
          </a:prstGeom>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AA5AF520-130D-0811-5B0A-20EB1B5E1A4B}"/>
              </a:ext>
            </a:extLst>
          </p:cNvPr>
          <p:cNvSpPr txBox="1"/>
          <p:nvPr/>
        </p:nvSpPr>
        <p:spPr>
          <a:xfrm>
            <a:off x="11096230" y="1683139"/>
            <a:ext cx="497252" cy="369332"/>
          </a:xfrm>
          <a:prstGeom prst="rect">
            <a:avLst/>
          </a:prstGeom>
          <a:noFill/>
        </p:spPr>
        <p:txBody>
          <a:bodyPr wrap="none" rtlCol="0">
            <a:spAutoFit/>
          </a:bodyPr>
          <a:lstStyle/>
          <a:p>
            <a:r>
              <a:rPr lang="en-GB" dirty="0">
                <a:solidFill>
                  <a:schemeClr val="accent2"/>
                </a:solidFill>
              </a:rPr>
              <a:t>a</a:t>
            </a:r>
            <a:r>
              <a:rPr lang="en-GB" dirty="0"/>
              <a:t>:</a:t>
            </a:r>
            <a:r>
              <a:rPr lang="en-GB" dirty="0">
                <a:solidFill>
                  <a:schemeClr val="accent1"/>
                </a:solidFill>
              </a:rPr>
              <a:t>1</a:t>
            </a:r>
            <a:endParaRPr lang="en-DE" dirty="0">
              <a:solidFill>
                <a:schemeClr val="accent2"/>
              </a:solidFill>
            </a:endParaRPr>
          </a:p>
        </p:txBody>
      </p:sp>
      <p:sp>
        <p:nvSpPr>
          <p:cNvPr id="16" name="TextBox 15">
            <a:extLst>
              <a:ext uri="{FF2B5EF4-FFF2-40B4-BE49-F238E27FC236}">
                <a16:creationId xmlns:a16="http://schemas.microsoft.com/office/drawing/2014/main" id="{9D8242E6-404A-1C83-F705-BFB733369B9C}"/>
              </a:ext>
            </a:extLst>
          </p:cNvPr>
          <p:cNvSpPr txBox="1"/>
          <p:nvPr/>
        </p:nvSpPr>
        <p:spPr>
          <a:xfrm>
            <a:off x="9774208" y="3853779"/>
            <a:ext cx="2351684" cy="369332"/>
          </a:xfrm>
          <a:prstGeom prst="rect">
            <a:avLst/>
          </a:prstGeom>
          <a:noFill/>
        </p:spPr>
        <p:txBody>
          <a:bodyPr wrap="square" rtlCol="0">
            <a:spAutoFit/>
          </a:bodyPr>
          <a:lstStyle/>
          <a:p>
            <a:r>
              <a:rPr lang="en-GB" dirty="0"/>
              <a:t>KV: anisotropy Energy</a:t>
            </a:r>
            <a:endParaRPr lang="en-DE" dirty="0"/>
          </a:p>
        </p:txBody>
      </p:sp>
    </p:spTree>
    <p:extLst>
      <p:ext uri="{BB962C8B-B14F-4D97-AF65-F5344CB8AC3E}">
        <p14:creationId xmlns:p14="http://schemas.microsoft.com/office/powerpoint/2010/main" val="1653685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6FC88-792E-77C9-AFF7-044A4860D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D1B43-9C06-AE06-0A76-F93EF26DD53F}"/>
              </a:ext>
            </a:extLst>
          </p:cNvPr>
          <p:cNvSpPr>
            <a:spLocks noGrp="1"/>
          </p:cNvSpPr>
          <p:nvPr>
            <p:ph type="title"/>
          </p:nvPr>
        </p:nvSpPr>
        <p:spPr>
          <a:xfrm>
            <a:off x="168245" y="-327655"/>
            <a:ext cx="10515600" cy="1325563"/>
          </a:xfrm>
        </p:spPr>
        <p:txBody>
          <a:bodyPr>
            <a:normAutofit/>
          </a:bodyPr>
          <a:lstStyle/>
          <a:p>
            <a:r>
              <a:rPr lang="en-GB" sz="3600" dirty="0">
                <a:solidFill>
                  <a:srgbClr val="045BA7"/>
                </a:solidFill>
                <a:latin typeface="Arial Rounded MT Bold" panose="020F0704030504030204" pitchFamily="34" charset="0"/>
                <a:cs typeface="Segoe UI" panose="020B0502040204020203" pitchFamily="34" charset="0"/>
              </a:rPr>
              <a:t>Magnetic response</a:t>
            </a:r>
            <a:endParaRPr lang="en-DE" sz="3600" dirty="0">
              <a:solidFill>
                <a:srgbClr val="045BA7"/>
              </a:solidFill>
              <a:latin typeface="Arial Rounded MT Bold" panose="020F0704030504030204" pitchFamily="34" charset="0"/>
              <a:cs typeface="Segoe UI" panose="020B0502040204020203" pitchFamily="34" charset="0"/>
            </a:endParaRPr>
          </a:p>
        </p:txBody>
      </p:sp>
      <p:pic>
        <p:nvPicPr>
          <p:cNvPr id="5" name="Picture 4">
            <a:extLst>
              <a:ext uri="{FF2B5EF4-FFF2-40B4-BE49-F238E27FC236}">
                <a16:creationId xmlns:a16="http://schemas.microsoft.com/office/drawing/2014/main" id="{0BFE2B62-9814-CF25-9090-1F7C7E1C2ACA}"/>
              </a:ext>
            </a:extLst>
          </p:cNvPr>
          <p:cNvPicPr>
            <a:picLocks noChangeAspect="1"/>
          </p:cNvPicPr>
          <p:nvPr/>
        </p:nvPicPr>
        <p:blipFill>
          <a:blip r:embed="rId3"/>
          <a:stretch>
            <a:fillRect/>
          </a:stretch>
        </p:blipFill>
        <p:spPr>
          <a:xfrm>
            <a:off x="8125806" y="5696437"/>
            <a:ext cx="3971925" cy="1086142"/>
          </a:xfrm>
          <a:prstGeom prst="rect">
            <a:avLst/>
          </a:prstGeom>
          <a:noFill/>
          <a:ln cap="flat">
            <a:noFill/>
          </a:ln>
        </p:spPr>
      </p:pic>
      <p:sp>
        <p:nvSpPr>
          <p:cNvPr id="10" name="Rectangle 9">
            <a:extLst>
              <a:ext uri="{FF2B5EF4-FFF2-40B4-BE49-F238E27FC236}">
                <a16:creationId xmlns:a16="http://schemas.microsoft.com/office/drawing/2014/main" id="{84AFAA76-D4EF-A951-C71C-73BCDBE9AF00}"/>
              </a:ext>
            </a:extLst>
          </p:cNvPr>
          <p:cNvSpPr/>
          <p:nvPr/>
        </p:nvSpPr>
        <p:spPr>
          <a:xfrm>
            <a:off x="0" y="655295"/>
            <a:ext cx="12192000" cy="247390"/>
          </a:xfrm>
          <a:prstGeom prst="rect">
            <a:avLst/>
          </a:prstGeom>
          <a:solidFill>
            <a:srgbClr val="606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8" name="Picture 7">
            <a:extLst>
              <a:ext uri="{FF2B5EF4-FFF2-40B4-BE49-F238E27FC236}">
                <a16:creationId xmlns:a16="http://schemas.microsoft.com/office/drawing/2014/main" id="{B4FDD206-2720-A722-73ED-9FCA3C12FE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69914" y="1044000"/>
            <a:ext cx="6144781" cy="4608585"/>
          </a:xfrm>
          <a:prstGeom prst="rect">
            <a:avLst/>
          </a:prstGeom>
        </p:spPr>
      </p:pic>
      <p:pic>
        <p:nvPicPr>
          <p:cNvPr id="6" name="Picture 5">
            <a:extLst>
              <a:ext uri="{FF2B5EF4-FFF2-40B4-BE49-F238E27FC236}">
                <a16:creationId xmlns:a16="http://schemas.microsoft.com/office/drawing/2014/main" id="{234AB7A2-593F-C31F-4008-EE42C8E627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21276" y="2763875"/>
            <a:ext cx="1525136" cy="752888"/>
          </a:xfrm>
          <a:prstGeom prst="rect">
            <a:avLst/>
          </a:prstGeom>
        </p:spPr>
      </p:pic>
      <p:sp>
        <p:nvSpPr>
          <p:cNvPr id="7" name="TextBox 6">
            <a:extLst>
              <a:ext uri="{FF2B5EF4-FFF2-40B4-BE49-F238E27FC236}">
                <a16:creationId xmlns:a16="http://schemas.microsoft.com/office/drawing/2014/main" id="{4E6DD19F-9EAA-D3E6-90D5-7AEA7322B096}"/>
              </a:ext>
            </a:extLst>
          </p:cNvPr>
          <p:cNvSpPr txBox="1"/>
          <p:nvPr/>
        </p:nvSpPr>
        <p:spPr>
          <a:xfrm>
            <a:off x="9774207" y="1083348"/>
            <a:ext cx="1819275" cy="646331"/>
          </a:xfrm>
          <a:prstGeom prst="rect">
            <a:avLst/>
          </a:prstGeom>
          <a:noFill/>
        </p:spPr>
        <p:txBody>
          <a:bodyPr wrap="square" rtlCol="0">
            <a:spAutoFit/>
          </a:bodyPr>
          <a:lstStyle/>
          <a:p>
            <a:r>
              <a:rPr lang="en-GB" dirty="0"/>
              <a:t>r: Semiaxes ratio of ellipsoid</a:t>
            </a:r>
            <a:endParaRPr lang="en-DE" dirty="0"/>
          </a:p>
        </p:txBody>
      </p:sp>
      <p:sp>
        <p:nvSpPr>
          <p:cNvPr id="9" name="Oval 8">
            <a:extLst>
              <a:ext uri="{FF2B5EF4-FFF2-40B4-BE49-F238E27FC236}">
                <a16:creationId xmlns:a16="http://schemas.microsoft.com/office/drawing/2014/main" id="{E79530A3-DCB5-9A49-2CB0-3FE5759B4F0F}"/>
              </a:ext>
            </a:extLst>
          </p:cNvPr>
          <p:cNvSpPr/>
          <p:nvPr/>
        </p:nvSpPr>
        <p:spPr>
          <a:xfrm>
            <a:off x="10312360" y="1940881"/>
            <a:ext cx="965807" cy="381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11" name="Straight Connector 10">
            <a:extLst>
              <a:ext uri="{FF2B5EF4-FFF2-40B4-BE49-F238E27FC236}">
                <a16:creationId xmlns:a16="http://schemas.microsoft.com/office/drawing/2014/main" id="{1AC60BE2-7210-D0BC-82BE-C703E55CABF3}"/>
              </a:ext>
            </a:extLst>
          </p:cNvPr>
          <p:cNvCxnSpPr>
            <a:stCxn id="9" idx="2"/>
            <a:endCxn id="9" idx="6"/>
          </p:cNvCxnSpPr>
          <p:nvPr/>
        </p:nvCxnSpPr>
        <p:spPr>
          <a:xfrm>
            <a:off x="10312360" y="2131381"/>
            <a:ext cx="965807"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Straight Connector 11">
            <a:extLst>
              <a:ext uri="{FF2B5EF4-FFF2-40B4-BE49-F238E27FC236}">
                <a16:creationId xmlns:a16="http://schemas.microsoft.com/office/drawing/2014/main" id="{76FE67FF-3F26-C369-38EB-90D4E5E47DD7}"/>
              </a:ext>
            </a:extLst>
          </p:cNvPr>
          <p:cNvCxnSpPr>
            <a:stCxn id="9" idx="0"/>
            <a:endCxn id="9" idx="4"/>
          </p:cNvCxnSpPr>
          <p:nvPr/>
        </p:nvCxnSpPr>
        <p:spPr>
          <a:xfrm>
            <a:off x="10795264" y="1940881"/>
            <a:ext cx="0" cy="381000"/>
          </a:xfrm>
          <a:prstGeom prst="line">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FCE201BD-DF50-EA37-A7CE-98E11EBA70B9}"/>
              </a:ext>
            </a:extLst>
          </p:cNvPr>
          <p:cNvSpPr txBox="1"/>
          <p:nvPr/>
        </p:nvSpPr>
        <p:spPr>
          <a:xfrm>
            <a:off x="11096230" y="1683139"/>
            <a:ext cx="497252" cy="369332"/>
          </a:xfrm>
          <a:prstGeom prst="rect">
            <a:avLst/>
          </a:prstGeom>
          <a:noFill/>
        </p:spPr>
        <p:txBody>
          <a:bodyPr wrap="none" rtlCol="0">
            <a:spAutoFit/>
          </a:bodyPr>
          <a:lstStyle/>
          <a:p>
            <a:r>
              <a:rPr lang="en-GB" dirty="0">
                <a:solidFill>
                  <a:schemeClr val="accent2"/>
                </a:solidFill>
              </a:rPr>
              <a:t>a</a:t>
            </a:r>
            <a:r>
              <a:rPr lang="en-GB" dirty="0"/>
              <a:t>:</a:t>
            </a:r>
            <a:r>
              <a:rPr lang="en-GB" dirty="0">
                <a:solidFill>
                  <a:schemeClr val="accent1"/>
                </a:solidFill>
              </a:rPr>
              <a:t>1</a:t>
            </a:r>
            <a:endParaRPr lang="en-DE" dirty="0">
              <a:solidFill>
                <a:schemeClr val="accent2"/>
              </a:solidFill>
            </a:endParaRPr>
          </a:p>
        </p:txBody>
      </p:sp>
      <p:sp>
        <p:nvSpPr>
          <p:cNvPr id="14" name="TextBox 13">
            <a:extLst>
              <a:ext uri="{FF2B5EF4-FFF2-40B4-BE49-F238E27FC236}">
                <a16:creationId xmlns:a16="http://schemas.microsoft.com/office/drawing/2014/main" id="{EADEB54D-35B9-A83D-026C-A16BB5EA566E}"/>
              </a:ext>
            </a:extLst>
          </p:cNvPr>
          <p:cNvSpPr txBox="1"/>
          <p:nvPr/>
        </p:nvSpPr>
        <p:spPr>
          <a:xfrm>
            <a:off x="9774208" y="3853779"/>
            <a:ext cx="2351684" cy="369332"/>
          </a:xfrm>
          <a:prstGeom prst="rect">
            <a:avLst/>
          </a:prstGeom>
          <a:noFill/>
        </p:spPr>
        <p:txBody>
          <a:bodyPr wrap="square" rtlCol="0">
            <a:spAutoFit/>
          </a:bodyPr>
          <a:lstStyle/>
          <a:p>
            <a:r>
              <a:rPr lang="en-GB" dirty="0"/>
              <a:t>KV: anisotropy Energy</a:t>
            </a:r>
            <a:endParaRPr lang="en-DE" dirty="0"/>
          </a:p>
        </p:txBody>
      </p:sp>
    </p:spTree>
    <p:extLst>
      <p:ext uri="{BB962C8B-B14F-4D97-AF65-F5344CB8AC3E}">
        <p14:creationId xmlns:p14="http://schemas.microsoft.com/office/powerpoint/2010/main" val="3583290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C6725-2C3D-213F-8016-A0EB9A462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89C1A-CAF9-7BB8-BAF9-3A48DF8BB8C9}"/>
              </a:ext>
            </a:extLst>
          </p:cNvPr>
          <p:cNvSpPr>
            <a:spLocks noGrp="1"/>
          </p:cNvSpPr>
          <p:nvPr>
            <p:ph type="title"/>
          </p:nvPr>
        </p:nvSpPr>
        <p:spPr>
          <a:xfrm>
            <a:off x="168245" y="-327655"/>
            <a:ext cx="10515600" cy="1325563"/>
          </a:xfrm>
        </p:spPr>
        <p:txBody>
          <a:bodyPr>
            <a:normAutofit/>
          </a:bodyPr>
          <a:lstStyle/>
          <a:p>
            <a:r>
              <a:rPr lang="en-GB" sz="3600" dirty="0">
                <a:solidFill>
                  <a:srgbClr val="045BA7"/>
                </a:solidFill>
                <a:latin typeface="Arial Rounded MT Bold" panose="020F0704030504030204" pitchFamily="34" charset="0"/>
                <a:cs typeface="Segoe UI" panose="020B0502040204020203" pitchFamily="34" charset="0"/>
              </a:rPr>
              <a:t>Outlook</a:t>
            </a:r>
            <a:endParaRPr lang="en-DE" sz="3600" dirty="0">
              <a:solidFill>
                <a:srgbClr val="045BA7"/>
              </a:solidFill>
              <a:latin typeface="Arial Rounded MT Bold" panose="020F0704030504030204"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4080CB27-7AF7-23F3-42F1-6D39F2E64567}"/>
              </a:ext>
            </a:extLst>
          </p:cNvPr>
          <p:cNvSpPr>
            <a:spLocks noGrp="1"/>
          </p:cNvSpPr>
          <p:nvPr>
            <p:ph idx="1"/>
          </p:nvPr>
        </p:nvSpPr>
        <p:spPr>
          <a:xfrm>
            <a:off x="322152" y="1508754"/>
            <a:ext cx="10515600" cy="4351338"/>
          </a:xfrm>
        </p:spPr>
        <p:txBody>
          <a:bodyPr/>
          <a:lstStyle/>
          <a:p>
            <a:pPr>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Response to Rotating magnetic field</a:t>
            </a:r>
          </a:p>
          <a:p>
            <a:pPr>
              <a:buClr>
                <a:srgbClr val="045BA7"/>
              </a:buClr>
              <a:buFont typeface="Wingdings" panose="05000000000000000000" pitchFamily="2" charset="2"/>
              <a:buChar char="§"/>
            </a:pPr>
            <a:endParaRPr lang="en-GB" dirty="0">
              <a:latin typeface="Segoe UI" panose="020B0502040204020203" pitchFamily="34" charset="0"/>
              <a:cs typeface="Segoe UI" panose="020B0502040204020203" pitchFamily="34" charset="0"/>
            </a:endParaRPr>
          </a:p>
          <a:p>
            <a:pPr>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Piece together simulation</a:t>
            </a:r>
          </a:p>
          <a:p>
            <a:pPr>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Including Lattice-Boltzmann Fluid dynamics</a:t>
            </a:r>
          </a:p>
          <a:p>
            <a:pPr>
              <a:buClr>
                <a:srgbClr val="045BA7"/>
              </a:buClr>
              <a:buFont typeface="Wingdings" panose="05000000000000000000" pitchFamily="2" charset="2"/>
              <a:buChar char="§"/>
            </a:pPr>
            <a:endParaRPr lang="en-GB" dirty="0">
              <a:latin typeface="Segoe UI" panose="020B0502040204020203" pitchFamily="34" charset="0"/>
              <a:cs typeface="Segoe UI" panose="020B0502040204020203" pitchFamily="34" charset="0"/>
            </a:endParaRPr>
          </a:p>
          <a:p>
            <a:pPr>
              <a:buClr>
                <a:srgbClr val="045BA7"/>
              </a:buClr>
              <a:buFont typeface="Wingdings" panose="05000000000000000000" pitchFamily="2" charset="2"/>
              <a:buChar char="§"/>
            </a:pPr>
            <a:r>
              <a:rPr lang="en-GB" dirty="0">
                <a:latin typeface="Segoe UI" panose="020B0502040204020203" pitchFamily="34" charset="0"/>
                <a:cs typeface="Segoe UI" panose="020B0502040204020203" pitchFamily="34" charset="0"/>
              </a:rPr>
              <a:t>Try to induce recirculation flow</a:t>
            </a:r>
          </a:p>
        </p:txBody>
      </p:sp>
      <p:pic>
        <p:nvPicPr>
          <p:cNvPr id="5" name="Picture 4">
            <a:extLst>
              <a:ext uri="{FF2B5EF4-FFF2-40B4-BE49-F238E27FC236}">
                <a16:creationId xmlns:a16="http://schemas.microsoft.com/office/drawing/2014/main" id="{E5BBFCDD-355B-DC6F-1786-ECC0EB86AD0A}"/>
              </a:ext>
            </a:extLst>
          </p:cNvPr>
          <p:cNvPicPr>
            <a:picLocks noChangeAspect="1"/>
          </p:cNvPicPr>
          <p:nvPr/>
        </p:nvPicPr>
        <p:blipFill>
          <a:blip r:embed="rId3"/>
          <a:stretch>
            <a:fillRect/>
          </a:stretch>
        </p:blipFill>
        <p:spPr>
          <a:xfrm>
            <a:off x="8125806" y="5696437"/>
            <a:ext cx="3971925" cy="1086142"/>
          </a:xfrm>
          <a:prstGeom prst="rect">
            <a:avLst/>
          </a:prstGeom>
          <a:noFill/>
          <a:ln cap="flat">
            <a:noFill/>
          </a:ln>
        </p:spPr>
      </p:pic>
      <p:sp>
        <p:nvSpPr>
          <p:cNvPr id="10" name="Rectangle 9">
            <a:extLst>
              <a:ext uri="{FF2B5EF4-FFF2-40B4-BE49-F238E27FC236}">
                <a16:creationId xmlns:a16="http://schemas.microsoft.com/office/drawing/2014/main" id="{24E9C9E1-C0DE-8CBB-DA65-9AE4569FBBAB}"/>
              </a:ext>
            </a:extLst>
          </p:cNvPr>
          <p:cNvSpPr/>
          <p:nvPr/>
        </p:nvSpPr>
        <p:spPr>
          <a:xfrm>
            <a:off x="0" y="655295"/>
            <a:ext cx="12192000" cy="247390"/>
          </a:xfrm>
          <a:prstGeom prst="rect">
            <a:avLst/>
          </a:prstGeom>
          <a:solidFill>
            <a:srgbClr val="606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3591222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2106</TotalTime>
  <Words>771</Words>
  <Application>Microsoft Office PowerPoint</Application>
  <PresentationFormat>Widescreen</PresentationFormat>
  <Paragraphs>98</Paragraphs>
  <Slides>16</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Aptos Display</vt:lpstr>
      <vt:lpstr>Arial</vt:lpstr>
      <vt:lpstr>Arial Rounded MT Bold</vt:lpstr>
      <vt:lpstr>Segoe UI</vt:lpstr>
      <vt:lpstr>Wingdings</vt:lpstr>
      <vt:lpstr>Office Theme</vt:lpstr>
      <vt:lpstr>Ellipsoid raspberry particles &amp; Thermal Stoner-Wohlfarth</vt:lpstr>
      <vt:lpstr>The project</vt:lpstr>
      <vt:lpstr>Contents</vt:lpstr>
      <vt:lpstr>Raspberry Ellipsoids</vt:lpstr>
      <vt:lpstr>Thermal Stoner-Wohlfarth</vt:lpstr>
      <vt:lpstr>Stoner-Wohlfarth</vt:lpstr>
      <vt:lpstr>Stoner-Wohlfarth</vt:lpstr>
      <vt:lpstr>Stoner-Wohlfarth</vt:lpstr>
      <vt:lpstr>Stoner-Wohlfarth</vt:lpstr>
      <vt:lpstr>Thermal Stoner-Wohlfarth</vt:lpstr>
      <vt:lpstr>Thermal Stoner-Wohlfarth</vt:lpstr>
      <vt:lpstr>Simulation Setup</vt:lpstr>
      <vt:lpstr>Magnetic response</vt:lpstr>
      <vt:lpstr>Magnetic response</vt:lpstr>
      <vt:lpstr>Magnetic response</vt:lpstr>
      <vt:lpstr>Outlook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leck eier</dc:creator>
  <cp:lastModifiedBy>leck eier</cp:lastModifiedBy>
  <cp:revision>11</cp:revision>
  <dcterms:created xsi:type="dcterms:W3CDTF">2026-06-22T07:45:50Z</dcterms:created>
  <dcterms:modified xsi:type="dcterms:W3CDTF">2026-06-26T01:08:02Z</dcterms:modified>
</cp:coreProperties>
</file>