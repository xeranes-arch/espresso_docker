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58" r:id="rId6"/>
    <p:sldId id="269" r:id="rId7"/>
    <p:sldId id="270" r:id="rId8"/>
    <p:sldId id="262" r:id="rId9"/>
    <p:sldId id="268" r:id="rId10"/>
    <p:sldId id="261" r:id="rId11"/>
    <p:sldId id="266" r:id="rId12"/>
    <p:sldId id="267" r:id="rId13"/>
    <p:sldId id="265" r:id="rId14"/>
    <p:sldId id="263" r:id="rId15"/>
    <p:sldId id="264" r:id="rId16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6060"/>
    <a:srgbClr val="045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12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1 468 24575,'52'20'0,"101"-2"0,21 5 0,-116-14-40,1-2-1,1-3 1,79-5-1,97 6-2370,450 13-742,-442-21 1205,4133 4-6761,-2189-81 8709,-1454 42 0,1517-96 0,-2115 125 0,193-12 137,942-74 978,-899 65-661,61-5 116,683-27 3463,-851 46-3662,-174 8 1082,19-3-952,125-5 1093,-202 17-834,-24 1-480,0-1 0,1-1 0,-1 0 1,0 0-1,1-1 0,-1 0 0,0-1 0,0 0 0,0 0 0,0-1 0,9-4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13.8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0 227 24575,'163'25'-294,"138"17"-4875,-168-30 5482,82 10-243,79 4-843,-111-25-365,334 12 1218,29 13-80,23-1-1292,548 10 250,2323-36-2232,-1841 2 2249,-1106-15 404,-41 1-77,1131-78 390,-765 17 3140,-744 67-2902,360-22 4574,-395 27-3482,0-2 0,0-2 0,40-11 0,24-4 2500,-8-2-3291,-71 16-215,1 0 0,1 2 0,30-3 0,-24 5-16,0-2 0,56-17 0,-12 3 0,-64 16 0,22-5 0,1 2 0,0 1 0,48-1 0,-53 7 0,1-2 0,-1-2 0,41-7 0,-33 4 0,0 2 0,61 0 0,-59 4 0,1-1 0,45-9 0,-45 4-319,1 3 0,65 1-1,-97 2-87,12 1-6419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21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2176 0 24575,'-6'1'0,"1"1"0,-1-1 0,1 1 0,0 0 0,0 1 0,-1-1 0,-5 5 0,-15 6 0,-137 54 0,106-41 0,-2-2 0,-92 24 0,-277 86 0,233-72-367,-85 33-269,154-45 571,46-21 85,-144 77-1,191-87 722,12-8-645,0 2 0,-24 18 0,44-30-96,1-1 0,-1 0 0,1 1 0,-1-1 0,0 0 0,1 1 0,-1-1 0,1 1 0,-1-1 0,1 1 0,-1-1 0,1 1 0,0-1 0,-1 1 0,1-1 0,0 1 0,-1 0 0,1-1 0,0 1 0,0 0 0,-1-1 0,1 1 0,0 0 0,0-1 0,0 1 0,0 0 0,0-1 0,0 1 0,0 0 0,0-1 0,0 1 0,0 0 0,0-1 0,1 1 0,-1 0 0,2 1 0,-1-1 0,1 0 0,-1 0 0,1 0 0,0 0 0,-1-1 0,1 1 0,0 0 0,0-1 0,-1 1 0,1-1 0,3 1 0,65 1 0,-66-2 0,135 1 0,107-5 0,-211-1 0,56-14 0,-61 11 0,1 1 0,54-4 0,-46 10 0,15-1 0,61-10 0,-53 4 0,1 3 0,0 3 0,98 8 0,-159-6 0,-1 0 0,0 0 0,0 0 0,0 0 0,0 0 0,0 0 0,1 0 0,-1 0 0,0 1 0,0-1 0,0 0 0,0 1 0,0-1 0,0 1 0,0-1 0,0 1 0,0-1 0,0 1 0,0 0 0,0 0 0,0-1 0,0 1 0,-1 0 0,1 0 0,0 0 0,-1 0 0,1 0 0,0 0 0,-1 0 0,1 2 0,-1-1 0,0 0 0,-1 0 0,1 0 0,-1 0 0,0 0 0,1 0 0,-1 0 0,0 0 0,0 0 0,-1 0 0,1 0 0,0 0 0,-1-1 0,-2 4 0,-9 8 0,-2 0 0,-24 18 0,-89 67 0,-50 34 0,72-57 0,60-41 0,-97 54 0,72-48 0,47-25 0,-1-2 0,0 0 0,-32 10 0,23-10 0,-62 34 0,0-1 0,87-43 0,0 1 0,1 0 0,-1 0 0,1 1 0,0 0 0,0 0 0,0 1 0,1 0 0,0 0 0,-10 12 0,17-18 0,0 0 0,0 1 0,0-1 0,-1 0 0,1 1 0,0-1 0,0 0 0,0 1 0,0-1 0,0 1 0,0-1 0,0 0 0,0 1 0,0-1 0,0 1 0,0-1 0,0 0 0,0 1 0,0-1 0,0 0 0,0 1 0,0-1 0,1 0 0,-1 1 0,0-1 0,0 1 0,0-1 0,0 0 0,1 0 0,-1 1 0,0-1 0,1 0 0,-1 1 0,0-1 0,1 0 0,17 7 0,25-4 0,-41-3 0,500-3 0,-481 2 0,1-1 0,-1-2 0,1 0 0,28-10 0,-27 7 0,1 1 0,-1 1 0,30-2 0,40-5 0,-93 12 0,0 0 0,0 0 0,0 0 0,0 0 0,1 0 0,-1 0 0,0 0 0,0 0 0,0 0 0,0 0 0,0 0 0,1 0 0,-1 0 0,0 0 0,0 0 0,0 0 0,0 0 0,0 1 0,1-1 0,-1 0 0,0 0 0,0 0 0,0 0 0,0 0 0,0 0 0,0 0 0,0 1 0,0-1 0,0 0 0,1 0 0,-1 0 0,0 0 0,0 0 0,0 1 0,0-1 0,0 0 0,0 0 0,0 0 0,0 0 0,0 0 0,0 1 0,0-1 0,0 0 0,0 0 0,0 0 0,0 0 0,0 0 0,0 1 0,0-1 0,0 0 0,-1 0 0,1 0 0,0 0 0,-8 12 0,-15 10 0,22-20 0,-161 134 0,116-97 0,-2-3 0,-102 61 0,58-33 0,64-42 0,-42 25 0,-331 199 0,352-214 0,1 3 0,-74 70 0,120-104 0,1 0 0,0 0 0,0 0 0,0 0 0,0 0 0,0 0 0,0 0 0,0 1 0,0-1 0,0 0 0,0 1 0,1-1 0,-1 1 0,0-1 0,1 1 0,0-1 0,-1 1 0,1-1 0,0 1 0,0 0 0,0-1 0,0 1 0,0-1 0,0 3 0,1-2 0,0-1 0,0 1 0,0-1 0,0 1 0,1-1 0,-1 1 0,0-1 0,1 0 0,-1 0 0,1 0 0,-1 0 0,1 0 0,0 0 0,-1 0 0,1 0 0,0-1 0,2 1 0,8 3 0,0-1 0,0-1 0,1 0 0,22 0 0,13-1-47,274-5-900,-286-1 947,69-16 0,4-2 0,12 1 0,143-45 0,-81 17 0,-120 32-71,-2-3 1,109-54-1,-137 49 796,-29 14-386,-5 12-332,0-1 1,0 1-1,0-1 1,0 1-1,0 0 1,0 0-1,0-1 1,0 1-1,0 0 1,0 0-1,-1 0 1,1 0-1,0 0 1,0 1-1,0-1 1,0 0-1,0 0 1,-1 1-1,-14 3-7,0 1 0,0 0 0,0 2 0,1-1 0,-23 15 0,-69 50 0,106-71 0,-49 35 0,-187 141 0,26 28 0,95-87 0,74-75 0,2 2 0,-54 76 0,92-118 0,0 1 0,0 0 0,0 0 0,1 0 0,-1 0 0,1 0 0,-1 1 0,1-1 0,0 0 0,1 1 0,-1-1 0,0 1 0,1-1 0,0 1 0,0-1 0,0 1 0,0-1 0,2 7 0,-1-7 0,0 0 0,1 0 0,-1-1 0,1 1 0,0-1 0,0 1 0,0-1 0,0 0 0,0 0 0,0 0 0,1 0 0,-1 0 0,1 0 0,-1-1 0,1 1 0,0-1 0,0 0 0,-1 0 0,1 0 0,0 0 0,0 0 0,4 0 0,27 4 0,0-2 0,0-2 0,1 0 0,59-9 0,-60 3 0,0-2 0,63-21 0,-29 7 0,419-120-993,-52-5 811,-230 76 49,-90 28 58,76-24 87,-182 63 206,0 0-1,-1 0 1,0-1-1,1 0 1,9-8-1,-36 22-144,13-8-73,0 0-1,-1 1 0,1 0 0,0 0 0,0 0 1,0 1-1,1-1 0,-8 8 0,-17 22 1,-3-1 0,-58 46 0,2-3 0,-141 121-382,197-170 312,-143 102-18,98-75 85,-226 175 3,3-22 0,300-206 0,-250 150 0,-120 94 91,337-222 37,20-15-87,0 1-1,1 1 1,0 0-1,0 1 1,1 0-1,0 1 1,-13 16-1,24-27-40,-1 1 0,1-1 0,0 1 0,-1-1 0,1 1 0,0 0 0,-1-1 0,1 1 0,0-1 0,0 1 0,0 0 0,0-1 0,-1 1 0,1-1 0,0 1 0,0 0 0,0-1 0,0 1 0,0 0 0,0-1 0,1 1 0,-1 0 0,0-1 0,0 1 0,0-1 0,1 1 0,-1 0 0,0-1 0,0 1 0,1-1 0,-1 1 0,1 0 0,22 9 0,31-8 0,-17-7 0,-1-1 0,52-16 0,10-2 0,213-58-952,-16 3 66,-129 32-101,-45 11 358,10 4 629,127-35 0,-152 36-160,211-67-722,-114 39 827,-103 33 36,104-21 3873,-187 42-3643,-23 6 24,-30 14 35,-320 203-270,254-157 0,22-15 0,-261 152 0,167-100 0,-58 50 0,231-148 0,0 0 0,1 0 0,-1 0 0,0 1 0,1-1 0,-1 0 0,0 1 0,1-1 0,-1 0 0,0 1 0,1-1 0,-1 1 0,1-1 0,-1 1 0,1-1 0,-1 1 0,1 0 0,0-1 0,-1 1 0,1-1 0,-1 1 0,1 0 0,0-1 0,0 1 0,-1 0 0,1 0 0,0-1 0,0 1 0,0 0 0,0-1 0,0 1 0,0 0 0,0 0 0,0-1 0,0 1 0,0 0 0,0-1 0,1 2 0,1 0 0,0-1 0,0 0 0,0 0 0,1 0 0,-1 0 0,0 0 0,0-1 0,1 1 0,-1-1 0,0 1 0,5-1 0,72 0 0,-56-5 0,0-1 0,-1 0 0,0-2 0,0 0 0,0-2 0,-1 0 0,27-18 0,9-4 0,-50 28-59,0 0 0,0-1-1,-1 0 1,1 0-1,-1-1 1,0 1 0,-1-1-1,1-1 1,-1 1 0,0-1-1,-1 0 1,0 0 0,0 0-1,0 0 1,-1-1-1,0 0 1,-1 1 0,0-1-1,0 0 1,0 0 0,-1-1-1,0-12 1,0 0-6767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48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97 24575,'-1'48'0,"-1"-24"0,2 1 0,5 41 0,-4-59 0,0-1 0,1 1 0,0-1 0,0 1 0,0-1 0,1 0 0,0 0 0,0 0 0,1 0 0,-1 0 0,1-1 0,1 1 0,-1-1 0,8 6 0,29 30 0,-33-32 0,0-1 0,1 1 0,0-1 0,1-1 0,-1 0 0,1 0 0,19 9 0,0-3 0,-7-3 0,0-1 0,0-1 0,1-1 0,26 5 0,-4-4 0,-8-2 0,-1-1 0,47 1 0,1326-7 0,-1379 2 0,54 11 0,-53-7 0,51 3 0,-50-8 0,-13-1 0,0 1 0,0 0 0,0 2 0,-1 0 0,1 1 0,0 1 0,23 9 0,-17-5 0,-1-2 0,2 0 0,-1-2 0,0-1 0,1-1 0,42-1 0,-31-1 0,0 1 0,47 9 0,-26-2 0,1-3 0,-1-2 0,72-7 0,-12 2 0,-95 2 0,0 1 0,0 1 0,43 10 0,-36-6 0,60 3 0,6 2 0,-40-3 0,-36-6 0,0 1 0,0 1 0,-1 1 0,1 1 0,20 8 0,46 24 0,86 43 0,-152-71 0,-16-9 0,0 1 0,0 0 0,0 0 0,0 1 0,0-1 0,0 1 0,5 5 0,-25-27 0,0 0 0,2-1 0,-15-25 0,24 34 0,-1 0 0,1 0 0,1-1 0,0 0 0,1 1 0,0-1 0,1-1 0,0 1 0,0-15 0,2 11 0,-1-6 0,1 0 0,1 1 0,7-40 0,-6 54 0,0 1 0,0 0 0,1-1 0,-1 1 0,1 0 0,1 0 0,-1 0 0,1 1 0,0-1 0,0 1 0,1 0 0,-1 0 0,1 0 0,0 1 0,1 0 0,8-6 0,5 0 0,0 0 0,34-11 0,20-10 0,-61 24 0,0 1 0,0 0 0,0 1 0,1 1 0,-1 0 0,26-5 0,36-1 0,130-3 0,-91 12 0,90 3 0,-184 0 0,0 2 0,-1 0 0,31 11 0,-32-9 0,0-1 0,0 0 0,1-1 0,20 1 0,52 7 0,-62-7 0,54 3 0,-34-8 0,-14-1 0,0 2 0,0 1 0,54 10 0,-44-5 0,0-2 0,0-2 0,0-2 0,46-4 0,11 0 0,-52 3 0,0 1 0,79 14 0,-68-8 0,0-1 0,0-4 0,70-5 0,-12 1 0,737 2 0,-837-1 0,1-1 0,34-8 0,-33 5 0,0 1 0,25-1 0,-16 5 0,0-2 0,49-10 0,-31 3 0,-34 8 0,0-1 0,0-1 0,-1 0 0,0 0 0,1-1 0,-1-1 0,0 0 0,-1-1 0,22-13 0,-28 12 0,-1 1 0,0-1 0,0 0 0,-1 0 0,1 0 0,-1-1 0,-1 1 0,0-1 0,0 0 0,0 1 0,-1-1 0,0-11 0,4-10 0,-1 0-411,-1-1-1,-1-50 0,-2 78 282,-1-20-6696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53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20 24575,'5'0'0,"-4"0"0,-6 0 0,-6 0 0,-1-4 0,5-2 0,9 1 0,7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54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61 24575,'-4'0'0,"-6"0"0,-5 0 0,0-4 0,-3-2 0,-1 1 0,2-4 0,-1 0 0,4-2 0,8-1 0,4 8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55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24575,'5'0'0,"5"0"0,-4 0 0,-6 0 0,-8 0 0,-7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4:56.3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0 24575,'-4'0'0,"-6"0"0,-5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5:03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24575,'0'4'0,"-4"1"0,-6 1 0,-5-2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5:14.8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24575,'2'20'0,"0"-1"0,1 0 0,1 1 0,1-1 0,0-1 0,2 1 0,0-1 0,1 0 0,1-1 0,15 24 0,-14-30 0,-1 0 0,2 0 0,-1-1 0,1-1 0,1 0 0,0 0 0,0-1 0,26 12 0,9 1 0,57 19 0,-9-12 0,43 16 0,-90-27 0,98 22 0,-69-21 0,-15 1 0,-46-12 0,1-2 0,0 0 0,1-1 0,26 3 0,78 4 0,60 2 0,1076-13 0,-1228-2 0,54-9 0,23-2 0,39 15 0,60-4 0,-110-10 0,-58 6 0,54-2 0,567 9 0,-628-2 0,-1-3 0,35-7 0,-15 2 0,7-2 0,-32 6 0,0 1 0,43-2 0,-51 6 0,0 0 0,-1-1 0,1-1 0,-1 0 0,1-2 0,24-7 0,-36 9 0,1-1 0,-1 1 0,0-1 0,0 0 0,-1-1 0,1 1 0,-1-1 0,0 0 0,0 0 0,0 0 0,0 0 0,-1-1 0,1 0 0,-1 1 0,0-1 0,-1 0 0,1-1 0,-1 1 0,0 0 0,0-1 0,-1 1 0,0-1 0,1-5 0,0-16 0,0 1 0,-2-1 0,-1 0 0,-1 1 0,-12-52 0,5 24 0,8 50 26,1 9-1417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5:15.8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111 170 24575,'-7'-2'0,"0"-1"0,1 1 0,-1-1 0,1 0 0,-1-1 0,1 0 0,-8-6 0,10 8 0,3 1 0,-36-29 0,37 30 0,-1-1 0,0 1 0,1-1 0,-1 1 0,1-1 0,-1 1 0,1-1 0,-1 1 0,1-1 0,-1 0 0,1 1 0,0-1 0,-1 0 0,1 1 0,0-1 0,-1 0 0,1 1 0,0-1 0,0 0 0,0 0 0,0 1 0,-1-1 0,1 0 0,0 0 0,0 1 0,1-1 0,-1 0 0,0 0 0,0 1 0,0-1 0,0 0 0,1 0 0,-1 1 0,0-1 0,1 0 0,-1 1 0,0-1 0,1 0 0,-1 1 0,1-1 0,-1 1 0,1-1 0,-1 1 0,1-1 0,0 1 0,-1-1 0,1 1 0,-1 0 0,1-1 0,0 1 0,0 0 0,-1-1 0,1 1 0,1 0 0,53-18 0,-34 13 0,-1-2 0,0 0 0,31-17 0,-48 23 0,-1-1 0,1 1 0,-1 0 0,1-1 0,-1 1 0,1 0 0,0 0 0,0 1 0,-1-1 0,1 1 0,0-1 0,0 1 0,0 0 0,0 0 0,-1 0 0,1 0 0,0 1 0,0-1 0,0 1 0,-1 0 0,1-1 0,0 1 0,-1 1 0,1-1 0,0 0 0,-1 1 0,0-1 0,1 1 0,-1-1 0,0 1 0,0 0 0,0 0 0,3 3 0,4 8 0,-1-1 0,0 1 0,-1 1 0,0-1 0,6 19 0,6 10 0,-1-10-1365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5:17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4026 561 24575,'0'1'0,"0"1"0,0-1 0,1 1 0,-1-1 0,1 1 0,-1-1 0,1 1 0,0-1 0,0 1 0,0-1 0,-1 0 0,1 1 0,0-1 0,1 0 0,-1 0 0,0 0 0,0 0 0,0 0 0,2 1 0,-2-1 0,-1-1 0,1 0 0,0 1 0,-1-1 0,1 0 0,0 1 0,-1-1 0,1 0 0,0 0 0,-1 0 0,1 1 0,0-1 0,-1 0 0,1 0 0,0 0 0,-1 0 0,1 0 0,0-1 0,-1 1 0,1 0 0,0 0 0,-1 0 0,1 0 0,0-1 0,-1 1 0,1 0 0,0-1 0,-1 1 0,1 0 0,-1-1 0,1 1 0,-1-1 0,1 1 0,-1-1 0,1 1 0,-1-1 0,1 1 0,-1-1 0,0 0 0,1 1 0,-1-1 0,0 0 0,0 1 0,1-1 0,-1-1 0,4-16 0,0-1 0,-2 1 0,0-1 0,-1 0 0,-1 0 0,-4-30 0,1-10 0,2 48 0,-1 1 0,0-1 0,0 1 0,-1 0 0,-1 0 0,0 0 0,0 0 0,-1 0 0,0 1 0,0 0 0,-1 0 0,-1 1 0,1-1 0,-10-8 0,-28-42 0,37 49 0,-1 1 0,0 0 0,0 0 0,-1 1 0,-1 0 0,1 0 0,-19-10 0,10 7 0,0 1 0,0 1 0,-36-12 0,26 15 0,1 2 0,-1 1 0,1 1 0,-1 1 0,-47 5 0,-6-1 0,-44-5 0,-126 5 0,183 9 0,49-8 0,0 0 0,-26 1 0,-72 8 0,79-8 0,-58 3 0,17-7 0,-120 16 0,124-10 0,-151-6 0,100-4 0,-528 3 0,620-1 0,-60-12 0,21 1 0,-2 2 0,34 3 0,-70-1 0,-593 9 0,699-1 0,0 0 0,-1 0 0,1 0 0,0 1 0,0 0 0,0 0 0,0 0 0,0 1 0,0 0 0,0 0 0,-7 4 0,9-4 0,0 1 0,0-1 0,1 1 0,-1 0 0,1 0 0,-1 0 0,1 0 0,0 0 0,0 1 0,1-1 0,-1 1 0,1-1 0,-1 1 0,1 0 0,0-1 0,0 5 0,-30 104 0,21-82 0,1 1 0,2 0 0,1 0 0,-4 63 0,9-74 43,-2 0-1,-6 31 1,-3 34-1536,11-64-5333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9:05:17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24575,'5'2'0,"-1"0"0,1 0 0,0 1 0,-1-1 0,1 1 0,-1 1 0,0-1 0,0 0 0,0 1 0,0 0 0,6 8 0,0-1 0,90 103 0,-66-72 0,45 44 0,-75-83 0,0 0 0,0 0 0,0 0 0,0-1 0,1 1 0,-1-1 0,1 0 0,-1 0 0,1-1 0,0 1 0,-1-1 0,1 0 0,0 0 0,0-1 0,0 1 0,0-1 0,0 0 0,0-1 0,0 1 0,0-1 0,-1 0 0,1 0 0,8-3 0,9-5 0,-1 0 0,0-2 0,38-25 0,-3 2 0,-18 14 0,6-4 0,1 2 0,84-29 0,-61 31-115,-28 6-94,0 2 1,1 2 0,0 2 0,1 1-1,59-1 1,-80 8-6618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CD7E14-8068-4433-A8FC-6EE66CF1801D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3452B6-285D-42CF-9A6F-7A741206937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8454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Show short clips of the construction of the ellipsoids.</a:t>
            </a:r>
            <a:br>
              <a:rPr lang="en-GB" dirty="0"/>
            </a:br>
            <a:r>
              <a:rPr lang="en-GB" dirty="0"/>
              <a:t>Should take about 1.5min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85922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Explanation how exchange influences ferro, </a:t>
            </a:r>
            <a:r>
              <a:rPr lang="en-GB" dirty="0" err="1"/>
              <a:t>dia</a:t>
            </a:r>
            <a:r>
              <a:rPr lang="en-GB" dirty="0"/>
              <a:t>, </a:t>
            </a:r>
            <a:r>
              <a:rPr lang="en-GB" dirty="0" err="1"/>
              <a:t>paramagnetism</a:t>
            </a:r>
            <a:r>
              <a:rPr lang="en-GB" dirty="0"/>
              <a:t> / </a:t>
            </a:r>
            <a:r>
              <a:rPr lang="en-GB" dirty="0" err="1"/>
              <a:t>superparamagnetism</a:t>
            </a:r>
            <a:r>
              <a:rPr lang="en-GB" dirty="0"/>
              <a:t> for my system. But optional really depending on time. If so, will also grey out Exchange interaction entirely.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404719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DABA5-71DD-7009-AE00-C31BF7C9E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0FF62-5079-0945-6B06-57956DEA7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76B8A-B63E-093B-E0D2-E5FCEB5A3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6D065A-8DBE-41BB-DC53-1F24A08EF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6097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6B2A0-DBA2-2C8F-8187-FC685F7E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99E288-B5FD-0220-ECD6-5429F66D8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38400-CEE3-6B72-5ED0-BB0C9EAF9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834A9-8FAA-DF90-453C-11CA404C19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066751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C942E-09E4-95D7-B323-0C2B9911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847E37-3889-3F6F-1959-8A8AB4306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23AA24-885D-F3F9-231B-07891A0B8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01563-E672-F5D4-263B-0B5F24C40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2140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D1E64-9118-68E0-5E83-A00BD18E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A7EC9-0DB9-0D85-1388-6A4A61D5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3A3629-212C-9F6F-9EF4-8794C122C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4D220-6B87-C4A6-2652-61AC9B345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82902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8F7E-D8A3-4003-F573-429910581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F1F57E-D613-B9D2-27BC-7FD761AEA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994C-64C9-BDA6-8217-C541DDC5B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Tau_D</a:t>
            </a:r>
            <a:r>
              <a:rPr lang="en-GB" dirty="0"/>
              <a:t>: Debye time, sigma: Anisotropy parameter,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65537-4AF5-7E3B-181E-6141293095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10075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BB0E0-7245-6CEE-5155-C07B204A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6B4CD-F2F9-54FC-E7EB-3F18A445E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1BF0-66F7-670D-BAE8-065718BAF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06F5F-11D9-E4F6-E339-678001288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762084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4103-5F37-73DE-7BDF-29F807F1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9C54E-25FA-DFF8-5DA2-04DF5DD3D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DA1E0-78A4-8031-5BDF-2DD74D8F0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Visualize what happens 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9B542-2CAE-B08A-DEE7-7BCEEE64E4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3452B6-285D-42CF-9A6F-7A7412069374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79529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98B55-F467-0A6F-77EF-2794767F06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CCB2E-BA5D-2F5D-5EB0-CD7B1056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8616-122E-B952-27A8-112F7EAE4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6714C-66AF-AD3D-6657-5E2E32E4B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AECB9-1D96-75D4-776D-F5D634749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3799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19A85-89A3-5B91-60AE-BC8EDD5D5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9AC33-D6D5-91C9-8D64-5C0D35D90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CEFFC-6642-7359-DD6F-AC3AF4A63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C7A8A-B9D1-DB53-91C8-0739AC6D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B5B3A-7C99-4E3C-5EE5-980EB6FE3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9298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6443B-1427-D2D6-810F-CE918E8ED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A8317E-593F-6D0E-5D57-50F0FD2C8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0C9BB-581A-CAB6-35CA-E84AE930C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601BF-EACB-F7A2-B46D-B7E0ABFF1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ED652-67D7-5835-D199-E83DE582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40559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976B5-8FB9-DB26-A123-19510B7D6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30079-53B7-F2E3-AE6F-645ACB468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37F6F8-C83F-7A6A-A0CB-BF9D768F6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4F4F9A-BB8B-6CFF-708D-A54D2516F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A80A3-6729-A0E4-02BB-F9C9CDA5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6CB8B-FD87-73A7-E2DC-BE3CA896E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2996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4249-F488-7904-05F1-3560BD6B0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82EBA3-14FD-7AF8-9E7D-F5630F8ED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B626D-1BC4-04ED-9D7E-C4927AE2ED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A364E-3180-DF5E-5026-8413ABCC41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81AC7D-B53A-1B72-DA2A-87D6DA7A24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E9E770-8A4B-E37A-033E-32581F3EE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7E1235-9574-1556-A4A1-BFD59A284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7A5B1-B46D-EBE0-6448-CB8AF7559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29385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C9FFC-F15C-D418-E699-AA1F6973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47DBC2-2AA5-A834-BBBB-EBE683F53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AC28B-7AB3-0164-5D84-4E900468F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F3B06-A649-AA12-06D1-0EB2FF28A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51480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968D4-87D7-B8F7-1C17-BDEC8D5E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8E17A4-7033-61BF-95DF-25CD6BCEE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E37BE-10EC-3B73-E740-0CBAA911F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1896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8F6E9-88A1-3971-A047-1E9BBCD2A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3F0B6-8A06-D745-0754-C48B83C30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1877DB-D264-5587-72D7-1FED79A72D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DC59A-8468-5CD6-95C2-53BAAEB04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AD79A-5814-BF07-F8E6-8B4EAA3F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1BB85-A445-056D-0AB4-898C96D6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20675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31971-BF7B-C6BD-7745-651C2E565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D659EE-367B-844D-A8C8-D26BC183B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9C51F2-D673-EA62-FA02-AF5EB9DDC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8E2172-CC93-E297-D60D-D321BE23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2A3F24-7DF7-B49F-A3B5-F22C89AAA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57DC99-22CF-DDDD-3B19-30B6C4734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893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9930B-9506-5D44-E2EC-EE4BC543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0E6CDA-8870-4E38-42B3-9E939FB6B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33779-CB14-95F5-D276-5039FEDBB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C03ACC-361E-21E2-D0ED-915061E96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B8023-0870-1AD1-4B6C-A2797AF77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8970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969D81-F5B6-ED81-7441-D3C268219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CA289-CC82-15DF-7227-27F19C413A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E13ED-17F8-5A53-DFD9-B399835C4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B104E-7B3A-D1E8-B7A5-27641837C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A3AF-FC26-7393-0195-7160A1D14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43720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D6905A-B85E-42BC-304B-82E9B307D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09113C-D28F-4F06-25DC-1F4203FB5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4FC73-784F-D786-17DF-C3D590BB22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95F77-F7D4-430D-B948-76E136FDA39B}" type="datetimeFigureOut">
              <a:rPr lang="en-DE" smtClean="0"/>
              <a:t>23/06/2026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072AE-C8B4-E20B-5116-4B3DFB0FC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42200-292F-4195-2EB9-3D0ECC4C43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D4879-B8A2-4222-96D9-49B5843C73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2225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5.xml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openxmlformats.org/officeDocument/2006/relationships/image" Target="../media/image2.png"/><Relationship Id="rId21" Type="http://schemas.openxmlformats.org/officeDocument/2006/relationships/customXml" Target="../ink/ink9.xml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17" Type="http://schemas.openxmlformats.org/officeDocument/2006/relationships/customXml" Target="../ink/ink7.xml"/><Relationship Id="rId25" Type="http://schemas.openxmlformats.org/officeDocument/2006/relationships/customXml" Target="../ink/ink11.xml"/><Relationship Id="rId2" Type="http://schemas.openxmlformats.org/officeDocument/2006/relationships/image" Target="../media/image1.jpg"/><Relationship Id="rId16" Type="http://schemas.openxmlformats.org/officeDocument/2006/relationships/image" Target="../media/image9.png"/><Relationship Id="rId20" Type="http://schemas.openxmlformats.org/officeDocument/2006/relationships/image" Target="../media/image11.png"/><Relationship Id="rId29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customXml" Target="../ink/ink4.xml"/><Relationship Id="rId24" Type="http://schemas.openxmlformats.org/officeDocument/2006/relationships/image" Target="../media/image13.png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23" Type="http://schemas.openxmlformats.org/officeDocument/2006/relationships/customXml" Target="../ink/ink10.xml"/><Relationship Id="rId28" Type="http://schemas.openxmlformats.org/officeDocument/2006/relationships/image" Target="../media/image15.png"/><Relationship Id="rId10" Type="http://schemas.openxmlformats.org/officeDocument/2006/relationships/image" Target="../media/image6.png"/><Relationship Id="rId19" Type="http://schemas.openxmlformats.org/officeDocument/2006/relationships/customXml" Target="../ink/ink8.xml"/><Relationship Id="rId4" Type="http://schemas.openxmlformats.org/officeDocument/2006/relationships/image" Target="../media/image3.png"/><Relationship Id="rId9" Type="http://schemas.openxmlformats.org/officeDocument/2006/relationships/customXml" Target="../ink/ink3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Relationship Id="rId27" Type="http://schemas.openxmlformats.org/officeDocument/2006/relationships/customXml" Target="../ink/ink12.xml"/><Relationship Id="rId30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hyperlink" Target="https://doi.org/10.1103/PhysRevB.111.014438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doi.org/10.1103/PhysRevB.111.01443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hyperlink" Target="https://doi.org/10.1103/PhysRevB.111.014438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F19E93-7894-621F-340C-A3A96ECAF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03" y="1119116"/>
            <a:ext cx="8123431" cy="2213635"/>
          </a:xfrm>
          <a:prstGeom prst="rect">
            <a:avLst/>
          </a:prstGeom>
          <a:noFill/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39217E-3CEA-E17F-A51F-D2D762983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9304" y="3429000"/>
            <a:ext cx="8921672" cy="1713305"/>
          </a:xfrm>
        </p:spPr>
        <p:txBody>
          <a:bodyPr anchor="b">
            <a:normAutofit/>
          </a:bodyPr>
          <a:lstStyle/>
          <a:p>
            <a:pPr algn="l"/>
            <a:r>
              <a:rPr lang="en-GB" sz="3800" dirty="0"/>
              <a:t>Ellipsoid raspberry particles</a:t>
            </a:r>
            <a:br>
              <a:rPr lang="en-GB" sz="3800" dirty="0"/>
            </a:br>
            <a:r>
              <a:rPr lang="en-GB" sz="3800" dirty="0"/>
              <a:t>&amp;</a:t>
            </a:r>
            <a:br>
              <a:rPr lang="en-GB" sz="3800" dirty="0"/>
            </a:br>
            <a:r>
              <a:rPr lang="en-GB" sz="3800" dirty="0"/>
              <a:t>Thermal Stoner-Wohlfarth</a:t>
            </a:r>
            <a:endParaRPr lang="en-DE" sz="3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14B44-737E-1151-29C4-8286165FD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9303" y="5142305"/>
            <a:ext cx="7321298" cy="753165"/>
          </a:xfrm>
        </p:spPr>
        <p:txBody>
          <a:bodyPr anchor="t">
            <a:normAutofit/>
          </a:bodyPr>
          <a:lstStyle/>
          <a:p>
            <a:pPr algn="l"/>
            <a:r>
              <a:rPr lang="en-GB" sz="1900"/>
              <a:t>Florian Klee</a:t>
            </a:r>
          </a:p>
          <a:p>
            <a:pPr algn="l"/>
            <a:r>
              <a:rPr lang="en-GB" sz="1900"/>
              <a:t>Supervisor: Pedro A. Sánchez</a:t>
            </a:r>
            <a:endParaRPr lang="en-DE" sz="1900"/>
          </a:p>
        </p:txBody>
      </p:sp>
    </p:spTree>
    <p:extLst>
      <p:ext uri="{BB962C8B-B14F-4D97-AF65-F5344CB8AC3E}">
        <p14:creationId xmlns:p14="http://schemas.microsoft.com/office/powerpoint/2010/main" val="1304038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8BE6A-7C5D-DEBF-0D1F-5C8EC5468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The project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58026-D50D-4A84-797F-495187C09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Recreate effects shown in:</a:t>
            </a:r>
          </a:p>
          <a:p>
            <a:pPr marL="0" indent="0">
              <a:buClr>
                <a:srgbClr val="045BA7"/>
              </a:buClr>
              <a:buNone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in simulation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7C4B8B-EBB9-6BD2-2AFB-E8214E00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33DB4EC-DF1D-36C3-9E87-4136DC2E5146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737063-C69C-FE1C-64F3-C727F35F7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17" y="1013976"/>
            <a:ext cx="6106377" cy="174331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9B9E74C-716B-42A9-17FF-F6ACF9B232A1}"/>
              </a:ext>
            </a:extLst>
          </p:cNvPr>
          <p:cNvSpPr/>
          <p:nvPr/>
        </p:nvSpPr>
        <p:spPr>
          <a:xfrm>
            <a:off x="4958317" y="1013976"/>
            <a:ext cx="6106377" cy="17433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CD8076-A3B8-46B3-9C9A-B3E9273270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69" y="3077691"/>
            <a:ext cx="5673669" cy="370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37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00F2-9C0E-54C8-53BC-96C42F3B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DA8B-8BD4-E111-86CC-7B2CEF4B1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The project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F6F25-C33D-D280-60FE-886A7FCD5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Recreate effects shown in:</a:t>
            </a:r>
          </a:p>
          <a:p>
            <a:pPr marL="0" indent="0">
              <a:buClr>
                <a:srgbClr val="045BA7"/>
              </a:buClr>
              <a:buNone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in simulation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D6C89-B781-042E-5A82-C61282E5B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79D834-4E6B-6AF6-A24C-DB7E4241C2C5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D4DC82-3483-4B01-89A5-AA508E4C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17" y="1013976"/>
            <a:ext cx="6106377" cy="174331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C765427-6990-C3BD-7A7B-4F02BF0FBE97}"/>
              </a:ext>
            </a:extLst>
          </p:cNvPr>
          <p:cNvSpPr/>
          <p:nvPr/>
        </p:nvSpPr>
        <p:spPr>
          <a:xfrm>
            <a:off x="4958317" y="1013976"/>
            <a:ext cx="6106377" cy="17433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95B34E-210F-17B9-770F-20B5A231E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69" y="3077691"/>
            <a:ext cx="5673669" cy="370488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D4B54C91-5C9B-3E2F-0F29-B08590711F08}"/>
                  </a:ext>
                </a:extLst>
              </p14:cNvPr>
              <p14:cNvContentPartPr/>
              <p14:nvPr/>
            </p14:nvContentPartPr>
            <p14:xfrm>
              <a:off x="6174143" y="2981944"/>
              <a:ext cx="5731920" cy="205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D4B54C91-5C9B-3E2F-0F29-B08590711F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56503" y="2963944"/>
                <a:ext cx="576756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D733F1DD-0CA4-1658-9470-9214FB4A6970}"/>
                  </a:ext>
                </a:extLst>
              </p14:cNvPr>
              <p14:cNvContentPartPr/>
              <p14:nvPr/>
            </p14:nvContentPartPr>
            <p14:xfrm>
              <a:off x="6418583" y="4834144"/>
              <a:ext cx="5259600" cy="1638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D733F1DD-0CA4-1658-9470-9214FB4A697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00583" y="4816144"/>
                <a:ext cx="529524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D67CDB9-0D94-FE63-92DC-BBF483021DB5}"/>
                  </a:ext>
                </a:extLst>
              </p14:cNvPr>
              <p14:cNvContentPartPr/>
              <p14:nvPr/>
            </p14:nvContentPartPr>
            <p14:xfrm>
              <a:off x="10560743" y="3277144"/>
              <a:ext cx="1070640" cy="1549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D67CDB9-0D94-FE63-92DC-BBF483021DB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543103" y="3259144"/>
                <a:ext cx="1106280" cy="158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7169903-8A89-936A-C180-C7B17320D936}"/>
                  </a:ext>
                </a:extLst>
              </p14:cNvPr>
              <p14:cNvContentPartPr/>
              <p14:nvPr/>
            </p14:nvContentPartPr>
            <p14:xfrm>
              <a:off x="8079143" y="5061098"/>
              <a:ext cx="2872080" cy="3189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7169903-8A89-936A-C180-C7B17320D93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061143" y="5043458"/>
                <a:ext cx="2907720" cy="35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A00FD889-89C5-57C9-638E-BA1DD1FDB76B}"/>
                  </a:ext>
                </a:extLst>
              </p14:cNvPr>
              <p14:cNvContentPartPr/>
              <p14:nvPr/>
            </p14:nvContentPartPr>
            <p14:xfrm>
              <a:off x="6752303" y="3632104"/>
              <a:ext cx="12960" cy="72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A00FD889-89C5-57C9-638E-BA1DD1FDB76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34303" y="3614464"/>
                <a:ext cx="4860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DD79E927-A4BD-523F-7E63-84791821AD97}"/>
                  </a:ext>
                </a:extLst>
              </p14:cNvPr>
              <p14:cNvContentPartPr/>
              <p14:nvPr/>
            </p14:nvContentPartPr>
            <p14:xfrm>
              <a:off x="7120223" y="4042864"/>
              <a:ext cx="50040" cy="223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DD79E927-A4BD-523F-7E63-84791821AD9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102223" y="4025224"/>
                <a:ext cx="8568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776D91B8-5321-A485-0BE3-BCE6874FBD25}"/>
                  </a:ext>
                </a:extLst>
              </p14:cNvPr>
              <p14:cNvContentPartPr/>
              <p14:nvPr/>
            </p14:nvContentPartPr>
            <p14:xfrm>
              <a:off x="6879743" y="4426984"/>
              <a:ext cx="8640" cy="3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776D91B8-5321-A485-0BE3-BCE6874FBD25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861743" y="4408984"/>
                <a:ext cx="442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644092B-3718-6BD1-996C-FFE29725C173}"/>
                  </a:ext>
                </a:extLst>
              </p14:cNvPr>
              <p14:cNvContentPartPr/>
              <p14:nvPr/>
            </p14:nvContentPartPr>
            <p14:xfrm>
              <a:off x="7394543" y="4707424"/>
              <a:ext cx="10800" cy="3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644092B-3718-6BD1-996C-FFE29725C173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376903" y="4689424"/>
                <a:ext cx="46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1B856D1-21E7-8DE2-9690-9946ADFA1235}"/>
                  </a:ext>
                </a:extLst>
              </p14:cNvPr>
              <p14:cNvContentPartPr/>
              <p14:nvPr/>
            </p14:nvContentPartPr>
            <p14:xfrm>
              <a:off x="7340543" y="3530584"/>
              <a:ext cx="10800" cy="7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1B856D1-21E7-8DE2-9690-9946ADFA123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322543" y="3512944"/>
                <a:ext cx="46440" cy="4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EA870288-BEDD-609E-CCB9-77CD5004BD83}"/>
              </a:ext>
            </a:extLst>
          </p:cNvPr>
          <p:cNvGrpSpPr/>
          <p:nvPr/>
        </p:nvGrpSpPr>
        <p:grpSpPr>
          <a:xfrm>
            <a:off x="8401463" y="4546864"/>
            <a:ext cx="1738440" cy="242640"/>
            <a:chOff x="8401463" y="4546864"/>
            <a:chExt cx="173844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2E12ACA-3396-C4E2-91E4-7B7472591452}"/>
                    </a:ext>
                  </a:extLst>
                </p14:cNvPr>
                <p14:cNvContentPartPr/>
                <p14:nvPr/>
              </p14:nvContentPartPr>
              <p14:xfrm>
                <a:off x="8401463" y="4571704"/>
                <a:ext cx="1666800" cy="217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2E12ACA-3396-C4E2-91E4-7B747259145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83463" y="4553704"/>
                  <a:ext cx="1702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5BA6C78-C969-D2BF-1331-3A5BB586DE7B}"/>
                    </a:ext>
                  </a:extLst>
                </p14:cNvPr>
                <p14:cNvContentPartPr/>
                <p14:nvPr/>
              </p14:nvContentPartPr>
              <p14:xfrm>
                <a:off x="10009223" y="4546864"/>
                <a:ext cx="130680" cy="709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5BA6C78-C969-D2BF-1331-3A5BB586DE7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91223" y="4529224"/>
                  <a:ext cx="1663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DDDD74C-ADAF-29FD-4AA2-D14C73132643}"/>
              </a:ext>
            </a:extLst>
          </p:cNvPr>
          <p:cNvGrpSpPr/>
          <p:nvPr/>
        </p:nvGrpSpPr>
        <p:grpSpPr>
          <a:xfrm>
            <a:off x="8337743" y="3510064"/>
            <a:ext cx="1623600" cy="373680"/>
            <a:chOff x="8337743" y="3510064"/>
            <a:chExt cx="162360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7D9B87-5D57-D28E-F7CF-BCB8C98CE04A}"/>
                    </a:ext>
                  </a:extLst>
                </p14:cNvPr>
                <p14:cNvContentPartPr/>
                <p14:nvPr/>
              </p14:nvContentPartPr>
              <p14:xfrm>
                <a:off x="8491463" y="3510064"/>
                <a:ext cx="1469880" cy="227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7D9B87-5D57-D28E-F7CF-BCB8C98CE04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473463" y="3492064"/>
                  <a:ext cx="1505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BEB4A4C-5884-D1E0-571C-17D2B652AE93}"/>
                    </a:ext>
                  </a:extLst>
                </p14:cNvPr>
                <p14:cNvContentPartPr/>
                <p14:nvPr/>
              </p14:nvContentPartPr>
              <p14:xfrm>
                <a:off x="8337743" y="3765664"/>
                <a:ext cx="443160" cy="118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BEB4A4C-5884-D1E0-571C-17D2B652AE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20103" y="3748024"/>
                  <a:ext cx="478800" cy="153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5B6DF2A0-8D2B-DCB3-8738-C9F98D4F27C9}"/>
              </a:ext>
            </a:extLst>
          </p:cNvPr>
          <p:cNvSpPr txBox="1"/>
          <p:nvPr/>
        </p:nvSpPr>
        <p:spPr>
          <a:xfrm>
            <a:off x="9048383" y="530333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stagnant</a:t>
            </a:r>
            <a:endParaRPr lang="en-DE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846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3A186-8C76-A60C-258B-46A6F15F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195E-FBA8-1E9C-F89E-507DDF9E8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Raspberry Ellipsoids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0E186-629E-36D0-D3B0-8388FEFB3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Two approaches</a:t>
            </a:r>
          </a:p>
          <a:p>
            <a:pPr lvl="1"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One for smooth surface</a:t>
            </a:r>
          </a:p>
          <a:p>
            <a:pPr lvl="1"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One superior in every other way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DA74B0-9958-B51B-559D-9A7219268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5E193A-7FFF-581E-63CD-BEE860FCA8F2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69540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9D76-6438-4C65-1935-5D7F64D70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B6F12-6F4A-50AD-43C8-AB8C5042A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Energy contributions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5DC47-F378-4D54-895F-EA040E09E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Zeeman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4C94BF-0631-66A0-7CAC-2ABD744BC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44EDBB-019C-66D5-6F2A-FB7CA6A81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759" y="2876739"/>
            <a:ext cx="4110891" cy="36697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BE31BE1-B754-10A3-B8F7-8ED8BCA2FDF7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493C44-8B5D-C2E5-3C87-96C10771B02C}"/>
              </a:ext>
            </a:extLst>
          </p:cNvPr>
          <p:cNvSpPr txBox="1"/>
          <p:nvPr/>
        </p:nvSpPr>
        <p:spPr>
          <a:xfrm>
            <a:off x="8834469" y="4994843"/>
            <a:ext cx="340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900" dirty="0"/>
              <a:t>Deniz </a:t>
            </a:r>
            <a:r>
              <a:rPr lang="en-DE" sz="900" dirty="0" err="1"/>
              <a:t>Mostara</a:t>
            </a:r>
            <a:r>
              <a:rPr lang="en-GB" sz="900" dirty="0"/>
              <a:t>c et al</a:t>
            </a:r>
            <a:r>
              <a:rPr lang="en-DE" sz="900" dirty="0"/>
              <a:t>. Thermal Stoner–Wohlfarth model for </a:t>
            </a:r>
            <a:r>
              <a:rPr lang="en-DE" sz="900" dirty="0" err="1"/>
              <a:t>magnetodynamics</a:t>
            </a:r>
            <a:r>
              <a:rPr lang="en-DE" sz="900" dirty="0"/>
              <a:t> of single domain nanoparticles: implementation and validation. </a:t>
            </a:r>
            <a:r>
              <a:rPr lang="en-DE" sz="900" i="1" dirty="0"/>
              <a:t>Physical Review B</a:t>
            </a:r>
            <a:r>
              <a:rPr lang="en-DE" sz="900" dirty="0"/>
              <a:t>, 111(1):014438, January 2025. </a:t>
            </a:r>
            <a:r>
              <a:rPr lang="en-DE" sz="900" dirty="0">
                <a:hlinkClick r:id="rId4"/>
              </a:rPr>
              <a:t>doi:10.1103/PhysRevB.111.014438</a:t>
            </a:r>
            <a:r>
              <a:rPr lang="en-DE" sz="900" dirty="0"/>
              <a:t>.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4D2CA25-0AD1-7EDA-EAC1-FE68F2C82E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636" y="1579524"/>
            <a:ext cx="2180349" cy="40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34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E2B87-251C-9C90-58BC-DB6C4322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C388-62C9-39C3-B61B-0F2319E24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Energy contributions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D751D-AA19-BCEC-7397-76E8F728A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Zeeman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Anisotropy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916ED5-2C67-1737-66B2-BA35E1EE9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24731B-82E0-09B0-A649-6ABBFD7A4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759" y="2876739"/>
            <a:ext cx="4110891" cy="36697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5779D8-8726-7EC3-5D95-6DC66545328C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83D0E7-582F-E661-93D1-56AC82C0BF88}"/>
              </a:ext>
            </a:extLst>
          </p:cNvPr>
          <p:cNvSpPr txBox="1"/>
          <p:nvPr/>
        </p:nvSpPr>
        <p:spPr>
          <a:xfrm>
            <a:off x="8834469" y="4994843"/>
            <a:ext cx="340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900" dirty="0"/>
              <a:t>Deniz </a:t>
            </a:r>
            <a:r>
              <a:rPr lang="en-DE" sz="900" dirty="0" err="1"/>
              <a:t>Mostara</a:t>
            </a:r>
            <a:r>
              <a:rPr lang="en-GB" sz="900" dirty="0"/>
              <a:t>c et al</a:t>
            </a:r>
            <a:r>
              <a:rPr lang="en-DE" sz="900" dirty="0"/>
              <a:t>. Thermal Stoner–Wohlfarth model for </a:t>
            </a:r>
            <a:r>
              <a:rPr lang="en-DE" sz="900" dirty="0" err="1"/>
              <a:t>magnetodynamics</a:t>
            </a:r>
            <a:r>
              <a:rPr lang="en-DE" sz="900" dirty="0"/>
              <a:t> of single domain nanoparticles: implementation and validation. </a:t>
            </a:r>
            <a:r>
              <a:rPr lang="en-DE" sz="900" i="1" dirty="0"/>
              <a:t>Physical Review B</a:t>
            </a:r>
            <a:r>
              <a:rPr lang="en-DE" sz="900" dirty="0"/>
              <a:t>, 111(1):014438, January 2025. </a:t>
            </a:r>
            <a:r>
              <a:rPr lang="en-DE" sz="900" dirty="0">
                <a:hlinkClick r:id="rId4"/>
              </a:rPr>
              <a:t>doi:10.1103/PhysRevB.111.014438</a:t>
            </a:r>
            <a:r>
              <a:rPr lang="en-DE" sz="900" dirty="0"/>
              <a:t>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86B0E33-6A30-B9B7-B55F-4EB57A86B5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636" y="1579524"/>
            <a:ext cx="2180349" cy="40881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3BF3B68-2B70-AC42-E45D-88EE720672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4330" y="1942602"/>
            <a:ext cx="7702667" cy="73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20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2A4F1-1FDB-66A7-BC8E-9357FA454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5056E-0586-C743-602A-9FE7FAE1E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Energy contributions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E05DE-2261-185E-99E8-68016844C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Zeeman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Anisotropy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BB39A6-2215-2617-AD5E-2BE5FEBC3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F57F4D-95EE-13AF-22A4-6292AF498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759" y="2876739"/>
            <a:ext cx="4110891" cy="36697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AF89CE7-DBA6-CBEB-9FD0-D8C3718F6093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3FB628-2A06-17A2-8E55-C07D6E550715}"/>
              </a:ext>
            </a:extLst>
          </p:cNvPr>
          <p:cNvSpPr txBox="1"/>
          <p:nvPr/>
        </p:nvSpPr>
        <p:spPr>
          <a:xfrm>
            <a:off x="8834469" y="4994843"/>
            <a:ext cx="340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900" dirty="0"/>
              <a:t>Deniz </a:t>
            </a:r>
            <a:r>
              <a:rPr lang="en-DE" sz="900" dirty="0" err="1"/>
              <a:t>Mostara</a:t>
            </a:r>
            <a:r>
              <a:rPr lang="en-GB" sz="900" dirty="0"/>
              <a:t>c et al</a:t>
            </a:r>
            <a:r>
              <a:rPr lang="en-DE" sz="900" dirty="0"/>
              <a:t>. Thermal Stoner–Wohlfarth model for </a:t>
            </a:r>
            <a:r>
              <a:rPr lang="en-DE" sz="900" dirty="0" err="1"/>
              <a:t>magnetodynamics</a:t>
            </a:r>
            <a:r>
              <a:rPr lang="en-DE" sz="900" dirty="0"/>
              <a:t> of single domain nanoparticles: implementation and validation. </a:t>
            </a:r>
            <a:r>
              <a:rPr lang="en-DE" sz="900" i="1" dirty="0"/>
              <a:t>Physical Review B</a:t>
            </a:r>
            <a:r>
              <a:rPr lang="en-DE" sz="900" dirty="0"/>
              <a:t>, 111(1):014438, January 2025. </a:t>
            </a:r>
            <a:r>
              <a:rPr lang="en-DE" sz="900" dirty="0">
                <a:hlinkClick r:id="rId4"/>
              </a:rPr>
              <a:t>doi:10.1103/PhysRevB.111.014438</a:t>
            </a:r>
            <a:r>
              <a:rPr lang="en-DE" sz="900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D78C11-F9F9-F791-A2D3-01D43EF1FB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4329" y="2108925"/>
            <a:ext cx="2410559" cy="3651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4987AF-DA0A-F4C3-5D3A-2B75A52C0B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636" y="1579524"/>
            <a:ext cx="2180349" cy="40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553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5A8B9-A65F-467A-7618-1935E81F3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1559B-51D5-B09D-9225-2145597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Energy contributions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BE82D-9164-E951-A758-5B1586A2F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4889625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Zeeman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Anisotropy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Dipole-Dipole / Demag field 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Exchange Interaction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1C79FB-7839-CFAE-AE28-3107C3A2E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B655002-877A-B978-CD13-5EB470FEF793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1ADE62E-A8F6-383C-FFAC-64D609F2E5CF}"/>
              </a:ext>
            </a:extLst>
          </p:cNvPr>
          <p:cNvSpPr/>
          <p:nvPr/>
        </p:nvSpPr>
        <p:spPr>
          <a:xfrm>
            <a:off x="8705869" y="1707862"/>
            <a:ext cx="778597" cy="701576"/>
          </a:xfrm>
          <a:prstGeom prst="arc">
            <a:avLst>
              <a:gd name="adj1" fmla="val 10829818"/>
              <a:gd name="adj2" fmla="val 44419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C495A9-7290-7CDA-303E-CAE5263E34B8}"/>
              </a:ext>
            </a:extLst>
          </p:cNvPr>
          <p:cNvCxnSpPr/>
          <p:nvPr/>
        </p:nvCxnSpPr>
        <p:spPr>
          <a:xfrm>
            <a:off x="9484466" y="2017531"/>
            <a:ext cx="0" cy="6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67E9405-058A-BFBA-D75D-3E1DB5ACF8EA}"/>
              </a:ext>
            </a:extLst>
          </p:cNvPr>
          <p:cNvCxnSpPr/>
          <p:nvPr/>
        </p:nvCxnSpPr>
        <p:spPr>
          <a:xfrm>
            <a:off x="9058953" y="1707862"/>
            <a:ext cx="72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8D93093-4946-08EC-5372-E1C3128EC55B}"/>
              </a:ext>
            </a:extLst>
          </p:cNvPr>
          <p:cNvSpPr/>
          <p:nvPr/>
        </p:nvSpPr>
        <p:spPr>
          <a:xfrm rot="10800000">
            <a:off x="8705868" y="2034143"/>
            <a:ext cx="778597" cy="670047"/>
          </a:xfrm>
          <a:prstGeom prst="arc">
            <a:avLst>
              <a:gd name="adj1" fmla="val 10829818"/>
              <a:gd name="adj2" fmla="val 44419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AE1D4A-BF29-6E68-F7BF-B070923B56FB}"/>
              </a:ext>
            </a:extLst>
          </p:cNvPr>
          <p:cNvCxnSpPr>
            <a:cxnSpLocks/>
          </p:cNvCxnSpPr>
          <p:nvPr/>
        </p:nvCxnSpPr>
        <p:spPr>
          <a:xfrm rot="10800000">
            <a:off x="8705868" y="2346064"/>
            <a:ext cx="0" cy="6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36DA6F-38F3-36AE-D179-9834818B4FE7}"/>
              </a:ext>
            </a:extLst>
          </p:cNvPr>
          <p:cNvCxnSpPr>
            <a:cxnSpLocks/>
          </p:cNvCxnSpPr>
          <p:nvPr/>
        </p:nvCxnSpPr>
        <p:spPr>
          <a:xfrm rot="10800000">
            <a:off x="9022739" y="2704190"/>
            <a:ext cx="72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A4B06FF-D6FF-6CFF-B783-37CD5CADECDB}"/>
              </a:ext>
            </a:extLst>
          </p:cNvPr>
          <p:cNvSpPr/>
          <p:nvPr/>
        </p:nvSpPr>
        <p:spPr>
          <a:xfrm rot="10800000">
            <a:off x="8601754" y="2071757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E8F05D46-DDE7-4499-7974-2E7CD948816E}"/>
              </a:ext>
            </a:extLst>
          </p:cNvPr>
          <p:cNvSpPr/>
          <p:nvPr/>
        </p:nvSpPr>
        <p:spPr>
          <a:xfrm rot="10800000">
            <a:off x="9380347" y="2080905"/>
            <a:ext cx="208230" cy="26515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F275FAD-5A63-EECE-9C24-233CD88BF06C}"/>
              </a:ext>
            </a:extLst>
          </p:cNvPr>
          <p:cNvSpPr/>
          <p:nvPr/>
        </p:nvSpPr>
        <p:spPr>
          <a:xfrm>
            <a:off x="10094065" y="1692224"/>
            <a:ext cx="778597" cy="701576"/>
          </a:xfrm>
          <a:prstGeom prst="arc">
            <a:avLst>
              <a:gd name="adj1" fmla="val 10829818"/>
              <a:gd name="adj2" fmla="val 44419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C6110-A890-7E98-8A7A-C8D4E6FD0870}"/>
              </a:ext>
            </a:extLst>
          </p:cNvPr>
          <p:cNvCxnSpPr/>
          <p:nvPr/>
        </p:nvCxnSpPr>
        <p:spPr>
          <a:xfrm>
            <a:off x="10872662" y="2001893"/>
            <a:ext cx="0" cy="6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217E3B-3E48-B9BE-80A8-2B7CB952D7FC}"/>
              </a:ext>
            </a:extLst>
          </p:cNvPr>
          <p:cNvCxnSpPr/>
          <p:nvPr/>
        </p:nvCxnSpPr>
        <p:spPr>
          <a:xfrm>
            <a:off x="10447149" y="1692224"/>
            <a:ext cx="72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FBC1783F-AF53-C864-32BA-1771371C51D8}"/>
              </a:ext>
            </a:extLst>
          </p:cNvPr>
          <p:cNvSpPr/>
          <p:nvPr/>
        </p:nvSpPr>
        <p:spPr>
          <a:xfrm rot="10800000">
            <a:off x="10094064" y="2027089"/>
            <a:ext cx="778597" cy="670047"/>
          </a:xfrm>
          <a:prstGeom prst="arc">
            <a:avLst>
              <a:gd name="adj1" fmla="val 10829818"/>
              <a:gd name="adj2" fmla="val 44419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5D63F1-6C16-326F-4007-AE59807D805F}"/>
              </a:ext>
            </a:extLst>
          </p:cNvPr>
          <p:cNvCxnSpPr>
            <a:cxnSpLocks/>
          </p:cNvCxnSpPr>
          <p:nvPr/>
        </p:nvCxnSpPr>
        <p:spPr>
          <a:xfrm rot="10800000">
            <a:off x="10094064" y="2330426"/>
            <a:ext cx="0" cy="6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0FC97E4-E356-95A9-7EEC-6E475F93220A}"/>
              </a:ext>
            </a:extLst>
          </p:cNvPr>
          <p:cNvCxnSpPr>
            <a:cxnSpLocks/>
          </p:cNvCxnSpPr>
          <p:nvPr/>
        </p:nvCxnSpPr>
        <p:spPr>
          <a:xfrm rot="10800000">
            <a:off x="10441110" y="2696725"/>
            <a:ext cx="72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2" name="Arrow: Down 31">
            <a:extLst>
              <a:ext uri="{FF2B5EF4-FFF2-40B4-BE49-F238E27FC236}">
                <a16:creationId xmlns:a16="http://schemas.microsoft.com/office/drawing/2014/main" id="{335B3E5F-6119-BD15-FB43-0B41BA50FF56}"/>
              </a:ext>
            </a:extLst>
          </p:cNvPr>
          <p:cNvSpPr/>
          <p:nvPr/>
        </p:nvSpPr>
        <p:spPr>
          <a:xfrm rot="10800000">
            <a:off x="9989950" y="2056119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A08345E8-83D1-3724-BCB6-65CAB64D2F6F}"/>
              </a:ext>
            </a:extLst>
          </p:cNvPr>
          <p:cNvSpPr/>
          <p:nvPr/>
        </p:nvSpPr>
        <p:spPr>
          <a:xfrm>
            <a:off x="10768543" y="2065267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2B2C23F-E03D-84E8-B13C-B040441DDE74}"/>
              </a:ext>
            </a:extLst>
          </p:cNvPr>
          <p:cNvSpPr/>
          <p:nvPr/>
        </p:nvSpPr>
        <p:spPr>
          <a:xfrm rot="10800000">
            <a:off x="8859416" y="3994119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CD8635D0-9869-9437-CDF0-B02810E5C0F5}"/>
              </a:ext>
            </a:extLst>
          </p:cNvPr>
          <p:cNvSpPr/>
          <p:nvPr/>
        </p:nvSpPr>
        <p:spPr>
          <a:xfrm rot="10800000">
            <a:off x="9409847" y="3994120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3E6AA79-C17F-1A99-B60B-4AEA04B2B289}"/>
              </a:ext>
            </a:extLst>
          </p:cNvPr>
          <p:cNvSpPr/>
          <p:nvPr/>
        </p:nvSpPr>
        <p:spPr>
          <a:xfrm>
            <a:off x="9082574" y="3994119"/>
            <a:ext cx="289710" cy="436845"/>
          </a:xfrm>
          <a:custGeom>
            <a:avLst/>
            <a:gdLst>
              <a:gd name="csX0" fmla="*/ 0 w 1195057"/>
              <a:gd name="csY0" fmla="*/ 689134 h 1325155"/>
              <a:gd name="csX1" fmla="*/ 226336 w 1195057"/>
              <a:gd name="csY1" fmla="*/ 372263 h 1325155"/>
              <a:gd name="csX2" fmla="*/ 389299 w 1195057"/>
              <a:gd name="csY2" fmla="*/ 698188 h 1325155"/>
              <a:gd name="csX3" fmla="*/ 570368 w 1195057"/>
              <a:gd name="csY3" fmla="*/ 10124 h 1325155"/>
              <a:gd name="csX4" fmla="*/ 724277 w 1195057"/>
              <a:gd name="csY4" fmla="*/ 1322877 h 1325155"/>
              <a:gd name="csX5" fmla="*/ 914400 w 1195057"/>
              <a:gd name="csY5" fmla="*/ 336049 h 1325155"/>
              <a:gd name="csX6" fmla="*/ 1077362 w 1195057"/>
              <a:gd name="csY6" fmla="*/ 680081 h 1325155"/>
              <a:gd name="csX7" fmla="*/ 1195057 w 1195057"/>
              <a:gd name="csY7" fmla="*/ 381316 h 1325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057" h="1325155">
                <a:moveTo>
                  <a:pt x="0" y="689134"/>
                </a:moveTo>
                <a:cubicBezTo>
                  <a:pt x="80726" y="529944"/>
                  <a:pt x="161453" y="370754"/>
                  <a:pt x="226336" y="372263"/>
                </a:cubicBezTo>
                <a:cubicBezTo>
                  <a:pt x="291219" y="373772"/>
                  <a:pt x="331960" y="758544"/>
                  <a:pt x="389299" y="698188"/>
                </a:cubicBezTo>
                <a:cubicBezTo>
                  <a:pt x="446638" y="637832"/>
                  <a:pt x="514538" y="-93991"/>
                  <a:pt x="570368" y="10124"/>
                </a:cubicBezTo>
                <a:cubicBezTo>
                  <a:pt x="626198" y="114239"/>
                  <a:pt x="666938" y="1268556"/>
                  <a:pt x="724277" y="1322877"/>
                </a:cubicBezTo>
                <a:cubicBezTo>
                  <a:pt x="781616" y="1377198"/>
                  <a:pt x="855553" y="443182"/>
                  <a:pt x="914400" y="336049"/>
                </a:cubicBezTo>
                <a:cubicBezTo>
                  <a:pt x="973248" y="228916"/>
                  <a:pt x="1030586" y="672537"/>
                  <a:pt x="1077362" y="680081"/>
                </a:cubicBezTo>
                <a:cubicBezTo>
                  <a:pt x="1124138" y="687625"/>
                  <a:pt x="1077362" y="429601"/>
                  <a:pt x="1195057" y="38131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0677F94B-D818-1D29-5479-C57D0754E078}"/>
              </a:ext>
            </a:extLst>
          </p:cNvPr>
          <p:cNvSpPr/>
          <p:nvPr/>
        </p:nvSpPr>
        <p:spPr>
          <a:xfrm rot="10800000">
            <a:off x="10170977" y="3970218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A69FD92F-5B9F-9ACC-CBD5-3A123C17FA51}"/>
              </a:ext>
            </a:extLst>
          </p:cNvPr>
          <p:cNvSpPr/>
          <p:nvPr/>
        </p:nvSpPr>
        <p:spPr>
          <a:xfrm>
            <a:off x="10721408" y="3970219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8D8FB109-B586-8236-0C38-6EE96001DA58}"/>
              </a:ext>
            </a:extLst>
          </p:cNvPr>
          <p:cNvSpPr/>
          <p:nvPr/>
        </p:nvSpPr>
        <p:spPr>
          <a:xfrm>
            <a:off x="10394135" y="3970218"/>
            <a:ext cx="289710" cy="436845"/>
          </a:xfrm>
          <a:custGeom>
            <a:avLst/>
            <a:gdLst>
              <a:gd name="csX0" fmla="*/ 0 w 1195057"/>
              <a:gd name="csY0" fmla="*/ 689134 h 1325155"/>
              <a:gd name="csX1" fmla="*/ 226336 w 1195057"/>
              <a:gd name="csY1" fmla="*/ 372263 h 1325155"/>
              <a:gd name="csX2" fmla="*/ 389299 w 1195057"/>
              <a:gd name="csY2" fmla="*/ 698188 h 1325155"/>
              <a:gd name="csX3" fmla="*/ 570368 w 1195057"/>
              <a:gd name="csY3" fmla="*/ 10124 h 1325155"/>
              <a:gd name="csX4" fmla="*/ 724277 w 1195057"/>
              <a:gd name="csY4" fmla="*/ 1322877 h 1325155"/>
              <a:gd name="csX5" fmla="*/ 914400 w 1195057"/>
              <a:gd name="csY5" fmla="*/ 336049 h 1325155"/>
              <a:gd name="csX6" fmla="*/ 1077362 w 1195057"/>
              <a:gd name="csY6" fmla="*/ 680081 h 1325155"/>
              <a:gd name="csX7" fmla="*/ 1195057 w 1195057"/>
              <a:gd name="csY7" fmla="*/ 381316 h 1325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057" h="1325155">
                <a:moveTo>
                  <a:pt x="0" y="689134"/>
                </a:moveTo>
                <a:cubicBezTo>
                  <a:pt x="80726" y="529944"/>
                  <a:pt x="161453" y="370754"/>
                  <a:pt x="226336" y="372263"/>
                </a:cubicBezTo>
                <a:cubicBezTo>
                  <a:pt x="291219" y="373772"/>
                  <a:pt x="331960" y="758544"/>
                  <a:pt x="389299" y="698188"/>
                </a:cubicBezTo>
                <a:cubicBezTo>
                  <a:pt x="446638" y="637832"/>
                  <a:pt x="514538" y="-93991"/>
                  <a:pt x="570368" y="10124"/>
                </a:cubicBezTo>
                <a:cubicBezTo>
                  <a:pt x="626198" y="114239"/>
                  <a:pt x="666938" y="1268556"/>
                  <a:pt x="724277" y="1322877"/>
                </a:cubicBezTo>
                <a:cubicBezTo>
                  <a:pt x="781616" y="1377198"/>
                  <a:pt x="855553" y="443182"/>
                  <a:pt x="914400" y="336049"/>
                </a:cubicBezTo>
                <a:cubicBezTo>
                  <a:pt x="973248" y="228916"/>
                  <a:pt x="1030586" y="672537"/>
                  <a:pt x="1077362" y="680081"/>
                </a:cubicBezTo>
                <a:cubicBezTo>
                  <a:pt x="1124138" y="687625"/>
                  <a:pt x="1077362" y="429601"/>
                  <a:pt x="1195057" y="38131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257A2FCB-2DB3-9ADD-AA7B-9BF5924D66B1}"/>
              </a:ext>
            </a:extLst>
          </p:cNvPr>
          <p:cNvSpPr/>
          <p:nvPr/>
        </p:nvSpPr>
        <p:spPr>
          <a:xfrm rot="10800000">
            <a:off x="8835433" y="4819360"/>
            <a:ext cx="208230" cy="265159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79C6BDE7-3E0F-C685-6FBD-9B68680EF997}"/>
              </a:ext>
            </a:extLst>
          </p:cNvPr>
          <p:cNvSpPr/>
          <p:nvPr/>
        </p:nvSpPr>
        <p:spPr>
          <a:xfrm>
            <a:off x="9058591" y="4819360"/>
            <a:ext cx="289710" cy="436845"/>
          </a:xfrm>
          <a:custGeom>
            <a:avLst/>
            <a:gdLst>
              <a:gd name="csX0" fmla="*/ 0 w 1195057"/>
              <a:gd name="csY0" fmla="*/ 689134 h 1325155"/>
              <a:gd name="csX1" fmla="*/ 226336 w 1195057"/>
              <a:gd name="csY1" fmla="*/ 372263 h 1325155"/>
              <a:gd name="csX2" fmla="*/ 389299 w 1195057"/>
              <a:gd name="csY2" fmla="*/ 698188 h 1325155"/>
              <a:gd name="csX3" fmla="*/ 570368 w 1195057"/>
              <a:gd name="csY3" fmla="*/ 10124 h 1325155"/>
              <a:gd name="csX4" fmla="*/ 724277 w 1195057"/>
              <a:gd name="csY4" fmla="*/ 1322877 h 1325155"/>
              <a:gd name="csX5" fmla="*/ 914400 w 1195057"/>
              <a:gd name="csY5" fmla="*/ 336049 h 1325155"/>
              <a:gd name="csX6" fmla="*/ 1077362 w 1195057"/>
              <a:gd name="csY6" fmla="*/ 680081 h 1325155"/>
              <a:gd name="csX7" fmla="*/ 1195057 w 1195057"/>
              <a:gd name="csY7" fmla="*/ 381316 h 1325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057" h="1325155">
                <a:moveTo>
                  <a:pt x="0" y="689134"/>
                </a:moveTo>
                <a:cubicBezTo>
                  <a:pt x="80726" y="529944"/>
                  <a:pt x="161453" y="370754"/>
                  <a:pt x="226336" y="372263"/>
                </a:cubicBezTo>
                <a:cubicBezTo>
                  <a:pt x="291219" y="373772"/>
                  <a:pt x="331960" y="758544"/>
                  <a:pt x="389299" y="698188"/>
                </a:cubicBezTo>
                <a:cubicBezTo>
                  <a:pt x="446638" y="637832"/>
                  <a:pt x="514538" y="-93991"/>
                  <a:pt x="570368" y="10124"/>
                </a:cubicBezTo>
                <a:cubicBezTo>
                  <a:pt x="626198" y="114239"/>
                  <a:pt x="666938" y="1268556"/>
                  <a:pt x="724277" y="1322877"/>
                </a:cubicBezTo>
                <a:cubicBezTo>
                  <a:pt x="781616" y="1377198"/>
                  <a:pt x="855553" y="443182"/>
                  <a:pt x="914400" y="336049"/>
                </a:cubicBezTo>
                <a:cubicBezTo>
                  <a:pt x="973248" y="228916"/>
                  <a:pt x="1030586" y="672537"/>
                  <a:pt x="1077362" y="680081"/>
                </a:cubicBezTo>
                <a:cubicBezTo>
                  <a:pt x="1124138" y="687625"/>
                  <a:pt x="1077362" y="429601"/>
                  <a:pt x="1195057" y="38131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99945C0-18C4-3140-290E-A56D5BBDA5A2}"/>
              </a:ext>
            </a:extLst>
          </p:cNvPr>
          <p:cNvSpPr/>
          <p:nvPr/>
        </p:nvSpPr>
        <p:spPr>
          <a:xfrm>
            <a:off x="9409846" y="4821958"/>
            <a:ext cx="289710" cy="289498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5F64B32-2978-F6A0-7304-DA2DDA89848F}"/>
              </a:ext>
            </a:extLst>
          </p:cNvPr>
          <p:cNvSpPr/>
          <p:nvPr/>
        </p:nvSpPr>
        <p:spPr>
          <a:xfrm>
            <a:off x="9531841" y="495194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EFF550-631F-3547-DCDD-D062D7D84F6A}"/>
              </a:ext>
            </a:extLst>
          </p:cNvPr>
          <p:cNvSpPr txBox="1"/>
          <p:nvPr/>
        </p:nvSpPr>
        <p:spPr>
          <a:xfrm>
            <a:off x="10379207" y="479013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9EB06EC-7BD8-B3F3-3698-EEF37BDDD2D6}"/>
              </a:ext>
            </a:extLst>
          </p:cNvPr>
          <p:cNvCxnSpPr>
            <a:cxnSpLocks/>
          </p:cNvCxnSpPr>
          <p:nvPr/>
        </p:nvCxnSpPr>
        <p:spPr>
          <a:xfrm>
            <a:off x="0" y="3557388"/>
            <a:ext cx="12192000" cy="1368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22793085-C149-6B92-0C4C-1CEB58E6D4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4329" y="2108925"/>
            <a:ext cx="2410559" cy="36511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1386725-A959-2236-BE8B-41A62285E94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636" y="1579524"/>
            <a:ext cx="2180349" cy="40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391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AF90E-A5F1-A5A3-B93A-EC310CF1B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C6841-B6BC-1D41-CF25-DFD7A2385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Stoner-Wohlfarth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C778B-3387-1FCB-1467-B5257D6F8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Zeeman Energy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Anisotropy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Dipole-Dipole / Demag field 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Exchange Interaction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64745-B669-1C1F-47C0-F9556B9BB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4B234C0-CFAB-8904-4CEA-0D4C12CE95A0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4A54B5-B2CA-B923-0EDC-AA63B673FA02}"/>
              </a:ext>
            </a:extLst>
          </p:cNvPr>
          <p:cNvSpPr txBox="1"/>
          <p:nvPr/>
        </p:nvSpPr>
        <p:spPr>
          <a:xfrm>
            <a:off x="4438596" y="3622306"/>
            <a:ext cx="3775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-&gt; implicit, single Domain particle</a:t>
            </a:r>
            <a:endParaRPr lang="en-DE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EAC308-34B4-695B-5CD2-1321665363B3}"/>
              </a:ext>
            </a:extLst>
          </p:cNvPr>
          <p:cNvCxnSpPr>
            <a:cxnSpLocks/>
          </p:cNvCxnSpPr>
          <p:nvPr/>
        </p:nvCxnSpPr>
        <p:spPr>
          <a:xfrm>
            <a:off x="612742" y="3806972"/>
            <a:ext cx="33653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A11FF7D-B4DE-2B90-C4CB-0E4591A9F966}"/>
              </a:ext>
            </a:extLst>
          </p:cNvPr>
          <p:cNvCxnSpPr>
            <a:cxnSpLocks/>
          </p:cNvCxnSpPr>
          <p:nvPr/>
        </p:nvCxnSpPr>
        <p:spPr>
          <a:xfrm>
            <a:off x="612742" y="3290068"/>
            <a:ext cx="451543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CE2C822-F159-062D-FEEA-8264209F2913}"/>
              </a:ext>
            </a:extLst>
          </p:cNvPr>
          <p:cNvSpPr txBox="1"/>
          <p:nvPr/>
        </p:nvSpPr>
        <p:spPr>
          <a:xfrm>
            <a:off x="5387348" y="3105402"/>
            <a:ext cx="4039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-&gt; SW considers only single particle</a:t>
            </a:r>
            <a:endParaRPr lang="en-DE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2991A-CA2D-2C9E-63D1-6E1630E9F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7076" y="946193"/>
            <a:ext cx="2440015" cy="217819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D0A5B5D-577D-EBE6-893B-1A17EC6982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4329" y="2108925"/>
            <a:ext cx="2410559" cy="36511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35A4C0F-2E3B-0597-C922-5580BDF930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636" y="1579524"/>
            <a:ext cx="2180349" cy="40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153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A365-D096-0209-62EF-CF8428458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8ABC6AE-E459-91AF-5F1B-1FF1B5EE3B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538" y="1168671"/>
            <a:ext cx="5852172" cy="4389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39CDED-77E8-D984-7A59-FF97C8FE5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Stoner-Wohlfarth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414108-E96F-42AD-1FC0-D7D8C4A88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FE38CF-6009-94F1-8309-76973BBDDD87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9E821DF-0B68-CCC2-5BE1-DE7F726B6FC5}"/>
              </a:ext>
            </a:extLst>
          </p:cNvPr>
          <p:cNvSpPr/>
          <p:nvPr/>
        </p:nvSpPr>
        <p:spPr>
          <a:xfrm>
            <a:off x="2921717" y="1045379"/>
            <a:ext cx="298764" cy="5160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50EAD7-8BA8-1BEF-E5CE-0B413F0085E9}"/>
              </a:ext>
            </a:extLst>
          </p:cNvPr>
          <p:cNvCxnSpPr/>
          <p:nvPr/>
        </p:nvCxnSpPr>
        <p:spPr>
          <a:xfrm>
            <a:off x="3071100" y="1001113"/>
            <a:ext cx="0" cy="66793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1D6DDE-5F07-EA18-74F5-39EBEEBBD231}"/>
              </a:ext>
            </a:extLst>
          </p:cNvPr>
          <p:cNvCxnSpPr/>
          <p:nvPr/>
        </p:nvCxnSpPr>
        <p:spPr>
          <a:xfrm flipV="1">
            <a:off x="3294419" y="1050930"/>
            <a:ext cx="0" cy="442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2E9C016-9CD1-AF10-379F-45A297E873DC}"/>
              </a:ext>
            </a:extLst>
          </p:cNvPr>
          <p:cNvSpPr txBox="1"/>
          <p:nvPr/>
        </p:nvSpPr>
        <p:spPr>
          <a:xfrm>
            <a:off x="3269889" y="1107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D3B868-891E-7A76-B5AF-F8C055D80F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2292" y="1168671"/>
            <a:ext cx="5852172" cy="4389129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CAD2F5E0-926F-D6D3-D77B-F07CECAC2D9D}"/>
              </a:ext>
            </a:extLst>
          </p:cNvPr>
          <p:cNvSpPr/>
          <p:nvPr/>
        </p:nvSpPr>
        <p:spPr>
          <a:xfrm>
            <a:off x="8822139" y="1015905"/>
            <a:ext cx="298764" cy="5160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34CE52D-6A45-D006-5CB9-A8F007346D77}"/>
              </a:ext>
            </a:extLst>
          </p:cNvPr>
          <p:cNvCxnSpPr/>
          <p:nvPr/>
        </p:nvCxnSpPr>
        <p:spPr>
          <a:xfrm>
            <a:off x="8971522" y="971639"/>
            <a:ext cx="0" cy="66793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3116C9-175F-C4B0-81BA-7B17B8FE790C}"/>
              </a:ext>
            </a:extLst>
          </p:cNvPr>
          <p:cNvCxnSpPr>
            <a:cxnSpLocks/>
          </p:cNvCxnSpPr>
          <p:nvPr/>
        </p:nvCxnSpPr>
        <p:spPr>
          <a:xfrm>
            <a:off x="9231055" y="1364003"/>
            <a:ext cx="475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88AE1A6-22F6-A876-3F1D-5B9A293C4905}"/>
              </a:ext>
            </a:extLst>
          </p:cNvPr>
          <p:cNvSpPr txBox="1"/>
          <p:nvPr/>
        </p:nvSpPr>
        <p:spPr>
          <a:xfrm>
            <a:off x="9270283" y="1030038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3940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80FC6-217C-600F-BB42-6A0C9EF35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FD13-5587-150C-362C-470E0615B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Stoner-Wohlfarth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5A3A4-6297-EC8C-47CC-2133115D8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0CA3DD-DEE9-FFF8-283A-6167FC54C03A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34A4C9-EA45-FB6F-5778-0B4BA52487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538" y="1168673"/>
            <a:ext cx="5852172" cy="438912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7C918A7C-24B9-B2E0-4781-851415A4A9AF}"/>
              </a:ext>
            </a:extLst>
          </p:cNvPr>
          <p:cNvSpPr/>
          <p:nvPr/>
        </p:nvSpPr>
        <p:spPr>
          <a:xfrm>
            <a:off x="2921717" y="1045379"/>
            <a:ext cx="298764" cy="5160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D04C92-D00F-693F-0ABD-FC74923350E5}"/>
              </a:ext>
            </a:extLst>
          </p:cNvPr>
          <p:cNvCxnSpPr/>
          <p:nvPr/>
        </p:nvCxnSpPr>
        <p:spPr>
          <a:xfrm>
            <a:off x="3071100" y="1001113"/>
            <a:ext cx="0" cy="66793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78D543-AFF8-B270-A724-3D9AADA65DC3}"/>
              </a:ext>
            </a:extLst>
          </p:cNvPr>
          <p:cNvCxnSpPr>
            <a:cxnSpLocks/>
          </p:cNvCxnSpPr>
          <p:nvPr/>
        </p:nvCxnSpPr>
        <p:spPr>
          <a:xfrm flipV="1">
            <a:off x="3281838" y="1089263"/>
            <a:ext cx="386323" cy="374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76C7378-C260-B9BA-1190-2EF7A5E09240}"/>
              </a:ext>
            </a:extLst>
          </p:cNvPr>
          <p:cNvSpPr txBox="1"/>
          <p:nvPr/>
        </p:nvSpPr>
        <p:spPr>
          <a:xfrm>
            <a:off x="3418111" y="1192094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607855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4E70-D22D-DC8E-0EE2-504B708E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399FB-2996-4146-5C2F-6E920B86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Stoner-Wohlfarth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7B164-7128-D7CC-20AC-365D5D1BB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E39138D-C0A7-0231-F13F-9B1EE16D312E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5E1AE4-6A82-F676-3DBE-B41E2C4CFB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538" y="1168673"/>
            <a:ext cx="5852172" cy="438912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26B7BA2D-EE0A-491A-FDAA-5EB8B26DA155}"/>
              </a:ext>
            </a:extLst>
          </p:cNvPr>
          <p:cNvSpPr/>
          <p:nvPr/>
        </p:nvSpPr>
        <p:spPr>
          <a:xfrm>
            <a:off x="2921717" y="1045379"/>
            <a:ext cx="298764" cy="5160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9B1C80-AF27-962F-156B-BDE5F59F9A88}"/>
              </a:ext>
            </a:extLst>
          </p:cNvPr>
          <p:cNvCxnSpPr/>
          <p:nvPr/>
        </p:nvCxnSpPr>
        <p:spPr>
          <a:xfrm>
            <a:off x="3071100" y="1001113"/>
            <a:ext cx="0" cy="66793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71EFC3-6F90-1F44-4E2E-9E4C075C7B80}"/>
              </a:ext>
            </a:extLst>
          </p:cNvPr>
          <p:cNvCxnSpPr>
            <a:cxnSpLocks/>
          </p:cNvCxnSpPr>
          <p:nvPr/>
        </p:nvCxnSpPr>
        <p:spPr>
          <a:xfrm flipV="1">
            <a:off x="3281838" y="1089263"/>
            <a:ext cx="386323" cy="374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7B94A2D-5280-9041-0B58-6EF5C2CDE5EF}"/>
              </a:ext>
            </a:extLst>
          </p:cNvPr>
          <p:cNvSpPr txBox="1"/>
          <p:nvPr/>
        </p:nvSpPr>
        <p:spPr>
          <a:xfrm>
            <a:off x="3418111" y="1192094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BD09B-F351-280A-495A-35A8FBD446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45" y="1490662"/>
            <a:ext cx="4638675" cy="3876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C8B2D1-A105-4CB3-1FED-60C83A78C6CB}"/>
              </a:ext>
            </a:extLst>
          </p:cNvPr>
          <p:cNvSpPr txBox="1"/>
          <p:nvPr/>
        </p:nvSpPr>
        <p:spPr>
          <a:xfrm>
            <a:off x="10196511" y="4634608"/>
            <a:ext cx="1995489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Zhang, </a:t>
            </a:r>
            <a:r>
              <a:rPr lang="en-GB" sz="900" dirty="0" err="1"/>
              <a:t>Wenzhe</a:t>
            </a:r>
            <a:r>
              <a:rPr lang="en-GB" sz="900" dirty="0"/>
              <a:t> &amp; Xiao, Gang &amp; Carter, Matthew. (2011). Two-dimensional field-sensing map and magnetic anisotropy dispersion in magnetic tunnel junction arrays. Physical Review B. 83. 144416-8575. 10.1103/PhysRevB.83.144416. </a:t>
            </a:r>
            <a:endParaRPr lang="en-DE" sz="900" dirty="0"/>
          </a:p>
        </p:txBody>
      </p:sp>
    </p:spTree>
    <p:extLst>
      <p:ext uri="{BB962C8B-B14F-4D97-AF65-F5344CB8AC3E}">
        <p14:creationId xmlns:p14="http://schemas.microsoft.com/office/powerpoint/2010/main" val="1847467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DD84F-94F0-0341-E526-4F36270B2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7BD21-56A1-B5BC-1AF9-6A0B8E609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Thermal Stoner-Wohlfarth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6C4D0-1684-1664-3709-08CE920DB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Motivation: Decouple magnetic moment &amp; anisotropy axis</a:t>
            </a:r>
          </a:p>
          <a:p>
            <a:pPr marL="457200" lvl="1" indent="0">
              <a:buClr>
                <a:srgbClr val="045BA7"/>
              </a:buClr>
              <a:buNone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Néel vs Brownian relaxation</a:t>
            </a:r>
          </a:p>
          <a:p>
            <a:pPr marL="0" indent="0">
              <a:buClr>
                <a:srgbClr val="045BA7"/>
              </a:buClr>
              <a:buNone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MC steps in accordance with lower Energy barrier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E909B8-B2AC-9F9E-74A7-33320341F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4F83949-54A5-8943-A428-D2B078B0D049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D05CDF-C994-E404-7D37-14AC3F6E6E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52" y="4766246"/>
            <a:ext cx="3001870" cy="93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726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9D95-7B35-ED85-E35C-838C9A5A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D42C3-44CE-6D85-F3F4-B725485DB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Magnetic response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0D183-4A19-6DB0-6007-AB9AD0F1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Response curves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AA6A0-394A-5028-E936-23F04E04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B29AB56-505F-BD40-F69C-FB237322AFD6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D1E2C-D278-2956-012E-AD82CDDC44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245" y="2562447"/>
            <a:ext cx="6841411" cy="4104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80CA1C-713D-FACD-18D1-5D29DC9E23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828" y="90268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686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C6725-2C3D-213F-8016-A0EB9A46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9C1A-CAF9-7BB8-BAF9-3A48DF8BB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5" y="-327655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45BA7"/>
                </a:solidFill>
                <a:latin typeface="Arial Rounded MT Bold" panose="020F0704030504030204" pitchFamily="34" charset="0"/>
                <a:cs typeface="Segoe UI" panose="020B0502040204020203" pitchFamily="34" charset="0"/>
              </a:rPr>
              <a:t>Outlook</a:t>
            </a:r>
            <a:endParaRPr lang="en-DE" sz="3600" dirty="0">
              <a:solidFill>
                <a:srgbClr val="045BA7"/>
              </a:solidFill>
              <a:latin typeface="Arial Rounded MT Bold" panose="020F070403050403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0CB27-7AF7-23F3-42F1-6D39F2E64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152" y="1508754"/>
            <a:ext cx="10515600" cy="4351338"/>
          </a:xfrm>
        </p:spPr>
        <p:txBody>
          <a:bodyPr/>
          <a:lstStyle/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Piece together simulation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Including Lattice-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Boltzman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 Fluid dynamics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Rotating magnetic field</a:t>
            </a:r>
          </a:p>
          <a:p>
            <a:pPr>
              <a:buClr>
                <a:srgbClr val="045BA7"/>
              </a:buClr>
              <a:buFont typeface="Wingdings" panose="05000000000000000000" pitchFamily="2" charset="2"/>
              <a:buChar char="§"/>
            </a:pP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Try to induce recirculation 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BBFCDD-355B-DC6F-1786-ECC0EB86A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06" y="5696437"/>
            <a:ext cx="3971925" cy="108614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4E9C9E1-C0DE-8CBB-DA65-9AE4569FBBAB}"/>
              </a:ext>
            </a:extLst>
          </p:cNvPr>
          <p:cNvSpPr/>
          <p:nvPr/>
        </p:nvSpPr>
        <p:spPr>
          <a:xfrm>
            <a:off x="0" y="655295"/>
            <a:ext cx="12192000" cy="24739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91222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386</Words>
  <Application>Microsoft Office PowerPoint</Application>
  <PresentationFormat>Widescreen</PresentationFormat>
  <Paragraphs>74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Arial Rounded MT Bold</vt:lpstr>
      <vt:lpstr>Segoe UI</vt:lpstr>
      <vt:lpstr>Wingdings</vt:lpstr>
      <vt:lpstr>Office Theme</vt:lpstr>
      <vt:lpstr>Ellipsoid raspberry particles &amp; Thermal Stoner-Wohlfarth</vt:lpstr>
      <vt:lpstr>The project</vt:lpstr>
      <vt:lpstr>The project</vt:lpstr>
      <vt:lpstr>Raspberry Ellipsoids</vt:lpstr>
      <vt:lpstr>Energy contributions</vt:lpstr>
      <vt:lpstr>Energy contributions</vt:lpstr>
      <vt:lpstr>Energy contributions</vt:lpstr>
      <vt:lpstr>Energy contributions</vt:lpstr>
      <vt:lpstr>Stoner-Wohlfarth</vt:lpstr>
      <vt:lpstr>Stoner-Wohlfarth</vt:lpstr>
      <vt:lpstr>Stoner-Wohlfarth</vt:lpstr>
      <vt:lpstr>Stoner-Wohlfarth</vt:lpstr>
      <vt:lpstr>Thermal Stoner-Wohlfarth</vt:lpstr>
      <vt:lpstr>Magnetic response</vt:lpstr>
      <vt:lpstr>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leck eier</dc:creator>
  <cp:lastModifiedBy>leck eier</cp:lastModifiedBy>
  <cp:revision>3</cp:revision>
  <dcterms:created xsi:type="dcterms:W3CDTF">2026-06-22T07:45:50Z</dcterms:created>
  <dcterms:modified xsi:type="dcterms:W3CDTF">2026-06-23T10:26:22Z</dcterms:modified>
</cp:coreProperties>
</file>